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258d8b8-28dc-b35e-1826-6560e90d2cb5}">
          <p14:sldIdLst>
            <p14:sldId id="256"/>
            <p14:sldId id="257"/>
          </p14:sldIdLst>
        </p14:section>
        <p14:section name="Data quality" id="{906af70c-f2e0-a568-4655-0fa5447be35b}">
          <p14:sldIdLst>
            <p14:sldId id="258"/>
          </p14:sldIdLst>
        </p14:section>
        <p14:section name="Findings" id="{50c54ec4-19c3-7c9d-d9be-39bff531ee8f}">
          <p14:sldIdLst>
            <p14:sldId id="259"/>
            <p14:sldId id="260"/>
            <p14:sldId id="261"/>
            <p14:sldId id="262"/>
            <p14:sldId id="263"/>
            <p14:sldId id="264"/>
            <p14:sldId id="265"/>
          </p14:sldIdLst>
        </p14:section>
        <p14:section name="Wrap-up" id="{1c547b17-31a0-d995-c6e7-ac7cd00443a3}">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mn-lt"/>
              </a:defRPr>
            </a:pPr>
            <a:r>
              <a:rPr sz="1400" b="0" i="0" u="none" strike="noStrike">
                <a:solidFill>
                  <a:srgbClr val="1F2D2A"/>
                </a:solidFill>
                <a:latin typeface="+mn-lt"/>
              </a:rPr>
              <a:t>Places by rating band</a:t>
            </a:r>
          </a:p>
        </c:rich>
      </c:tx>
      <c:layout/>
      <c:overlay val="0"/>
    </c:title>
    <c:autoTitleDeleted val="0"/>
    <c:plotArea>
      <c:layout/>
      <c:barChart>
        <c:barDir val="col"/>
        <c:grouping val="clustered"/>
        <c:varyColors val="0"/>
        <c:ser>
          <c:idx val="0"/>
          <c:order val="0"/>
          <c:tx>
            <c:strRef>
              <c:f>Sheet1!$B$1</c:f>
              <c:strCache>
                <c:ptCount val="1"/>
                <c:pt idx="0">
                  <c:v>Places</c:v>
                </c:pt>
              </c:strCache>
            </c:strRef>
          </c:tx>
          <c:spPr>
            <a:solidFill>
              <a:srgbClr val="8A9A95"/>
            </a:solidFill>
            <a:effectLst/>
          </c:spPr>
          <c:invertIfNegative val="0"/>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dPt>
            <c:idx val="0"/>
            <c:invertIfNegative val="0"/>
            <c:bubble3D val="0"/>
            <c:spPr>
              <a:solidFill>
                <a:srgbClr val="8A9A95"/>
              </a:solidFill>
              <a:effectLst/>
            </c:spPr>
          </c:dPt>
          <c:dPt>
            <c:idx val="1"/>
            <c:invertIfNegative val="0"/>
            <c:bubble3D val="0"/>
            <c:spPr>
              <a:solidFill>
                <a:srgbClr val="006A4E"/>
              </a:solidFill>
              <a:effectLst/>
            </c:spPr>
          </c:dPt>
          <c:dPt>
            <c:idx val="2"/>
            <c:invertIfNegative val="0"/>
            <c:bubble3D val="0"/>
            <c:spPr>
              <a:solidFill>
                <a:srgbClr val="006A4E"/>
              </a:solidFill>
              <a:effectLst/>
            </c:spPr>
          </c:dPt>
          <c:dPt>
            <c:idx val="3"/>
            <c:invertIfNegative val="0"/>
            <c:bubble3D val="0"/>
            <c:spPr>
              <a:solidFill>
                <a:srgbClr val="006A4E"/>
              </a:solidFill>
              <a:effectLst/>
            </c:spPr>
          </c:dPt>
          <c:dPt>
            <c:idx val="4"/>
            <c:invertIfNegative val="0"/>
            <c:bubble3D val="0"/>
            <c:spPr>
              <a:solidFill>
                <a:srgbClr val="006A4E"/>
              </a:solidFill>
              <a:effectLst/>
            </c:spPr>
          </c:dPt>
          <c:dPt>
            <c:idx val="5"/>
            <c:invertIfNegative val="0"/>
            <c:bubble3D val="0"/>
            <c:spPr>
              <a:solidFill>
                <a:srgbClr val="F42A41"/>
              </a:solidFill>
              <a:effectLst/>
            </c:spPr>
          </c:dPt>
          <c:cat>
            <c:multiLvlStrRef>
              <c:f>Sheet1!$A$2:$A$7</c:f>
              <c:multiLvlStrCache>
                <c:ptCount val="6"/>
                <c:lvl>
                  <c:pt idx="0">
                    <c:v>Unrated</c:v>
                  </c:pt>
                  <c:pt idx="1">
                    <c:v>1.0-1.9</c:v>
                  </c:pt>
                  <c:pt idx="2">
                    <c:v>2.0-2.9</c:v>
                  </c:pt>
                  <c:pt idx="3">
                    <c:v>3.0-3.9</c:v>
                  </c:pt>
                  <c:pt idx="4">
                    <c:v>4.0-4.9</c:v>
                  </c:pt>
                  <c:pt idx="5">
                    <c:v>Perfect 5.0</c:v>
                  </c:pt>
                </c:lvl>
              </c:multiLvlStrCache>
            </c:multiLvlStrRef>
          </c:cat>
          <c:val>
            <c:numRef>
              <c:f>Sheet1!$B$2:$B$7</c:f>
              <c:numCache>
                <c:formatCode>General</c:formatCode>
                <c:ptCount val="6"/>
                <c:pt idx="0">
                  <c:v>2528</c:v>
                </c:pt>
                <c:pt idx="1">
                  <c:v>188</c:v>
                </c:pt>
                <c:pt idx="2">
                  <c:v>226</c:v>
                </c:pt>
                <c:pt idx="3">
                  <c:v>2428</c:v>
                </c:pt>
                <c:pt idx="4">
                  <c:v>3606</c:v>
                </c:pt>
                <c:pt idx="5">
                  <c:v>1778</c:v>
                </c:pt>
              </c:numCache>
            </c:numRef>
          </c:val>
        </c:ser>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F2D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mn-lt"/>
              </a:defRPr>
            </a:pPr>
            <a:r>
              <a:rPr sz="1400" b="0" i="0" u="none" strike="noStrike">
                <a:solidFill>
                  <a:srgbClr val="1F2D2A"/>
                </a:solidFill>
                <a:latin typeface="+mn-lt"/>
              </a:rPr>
              <a:t>% of places with a perfect 5.0, by number of reviews</a:t>
            </a:r>
          </a:p>
        </c:rich>
      </c:tx>
      <c:layout/>
      <c:overlay val="0"/>
    </c:title>
    <c:autoTitleDeleted val="0"/>
    <c:plotArea>
      <c:layout/>
      <c:barChart>
        <c:barDir val="col"/>
        <c:grouping val="clustered"/>
        <c:varyColors val="0"/>
        <c:ser>
          <c:idx val="0"/>
          <c:order val="0"/>
          <c:tx>
            <c:strRef>
              <c:f>Sheet1!$B$1</c:f>
              <c:strCache>
                <c:ptCount val="1"/>
                <c:pt idx="0">
                  <c:v>% perfect 5.0</c:v>
                </c:pt>
              </c:strCache>
            </c:strRef>
          </c:tx>
          <c:spPr>
            <a:solidFill>
              <a:srgbClr val="F42A41"/>
            </a:solidFill>
            <a:effectLst/>
          </c:spPr>
          <c:invertIfNegative val="0"/>
          <c:dLbls>
            <c:numFmt formatCode="0.0&quot;%&quot;"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dPt>
            <c:idx val="0"/>
            <c:invertIfNegative val="0"/>
            <c:bubble3D val="0"/>
            <c:spPr>
              <a:solidFill>
                <a:srgbClr val="F42A41"/>
              </a:solidFill>
              <a:effectLst/>
            </c:spPr>
          </c:dPt>
          <c:dPt>
            <c:idx val="1"/>
            <c:invertIfNegative val="0"/>
            <c:bubble3D val="0"/>
            <c:spPr>
              <a:solidFill>
                <a:srgbClr val="F42A41"/>
              </a:solidFill>
              <a:effectLst/>
            </c:spPr>
          </c:dPt>
          <c:dPt>
            <c:idx val="2"/>
            <c:invertIfNegative val="0"/>
            <c:bubble3D val="0"/>
            <c:spPr>
              <a:solidFill>
                <a:srgbClr val="E9B44C"/>
              </a:solidFill>
              <a:effectLst/>
            </c:spPr>
          </c:dPt>
          <c:dPt>
            <c:idx val="3"/>
            <c:invertIfNegative val="0"/>
            <c:bubble3D val="0"/>
            <c:spPr>
              <a:solidFill>
                <a:srgbClr val="006A4E"/>
              </a:solidFill>
              <a:effectLst/>
            </c:spPr>
          </c:dPt>
          <c:dPt>
            <c:idx val="4"/>
            <c:invertIfNegative val="0"/>
            <c:bubble3D val="0"/>
            <c:spPr>
              <a:solidFill>
                <a:srgbClr val="006A4E"/>
              </a:solidFill>
              <a:effectLst/>
            </c:spPr>
          </c:dPt>
          <c:dPt>
            <c:idx val="5"/>
            <c:invertIfNegative val="0"/>
            <c:bubble3D val="0"/>
            <c:spPr>
              <a:solidFill>
                <a:srgbClr val="006A4E"/>
              </a:solidFill>
              <a:effectLst/>
            </c:spPr>
          </c:dPt>
          <c:dPt>
            <c:idx val="6"/>
            <c:invertIfNegative val="0"/>
            <c:bubble3D val="0"/>
            <c:spPr>
              <a:solidFill>
                <a:srgbClr val="006A4E"/>
              </a:solidFill>
              <a:effectLst/>
            </c:spPr>
          </c:dPt>
          <c:cat>
            <c:multiLvlStrRef>
              <c:f>Sheet1!$A$2:$A$8</c:f>
              <c:multiLvlStrCache>
                <c:ptCount val="7"/>
                <c:lvl>
                  <c:pt idx="0">
                    <c:v>1</c:v>
                  </c:pt>
                  <c:pt idx="1">
                    <c:v>2-4</c:v>
                  </c:pt>
                  <c:pt idx="2">
                    <c:v>5-9</c:v>
                  </c:pt>
                  <c:pt idx="3">
                    <c:v>10-49</c:v>
                  </c:pt>
                  <c:pt idx="4">
                    <c:v>50-199</c:v>
                  </c:pt>
                  <c:pt idx="5">
                    <c:v>200-999</c:v>
                  </c:pt>
                  <c:pt idx="6">
                    <c:v>1000+</c:v>
                  </c:pt>
                </c:lvl>
              </c:multiLvlStrCache>
            </c:multiLvlStrRef>
          </c:cat>
          <c:val>
            <c:numRef>
              <c:f>Sheet1!$B$2:$B$8</c:f>
              <c:numCache>
                <c:formatCode>General</c:formatCode>
                <c:ptCount val="7"/>
                <c:pt idx="0">
                  <c:v>61.4</c:v>
                </c:pt>
                <c:pt idx="1">
                  <c:v>32.4</c:v>
                </c:pt>
                <c:pt idx="2">
                  <c:v>10.8</c:v>
                </c:pt>
                <c:pt idx="3">
                  <c:v>0.8</c:v>
                </c:pt>
                <c:pt idx="4">
                  <c:v>0</c:v>
                </c:pt>
                <c:pt idx="5">
                  <c:v>0</c:v>
                </c:pt>
                <c:pt idx="6">
                  <c:v>0</c:v>
                </c:pt>
              </c:numCache>
            </c:numRef>
          </c:val>
        </c:ser>
        <c:dLbls>
          <c:numFmt formatCode="0.0&quot;%&quot;"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F2D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mn-lt"/>
              </a:defRPr>
            </a:pPr>
            <a:r>
              <a:rPr sz="1400" b="0" i="0" u="none" strike="noStrike">
                <a:solidFill>
                  <a:srgbClr val="1F2D2A"/>
                </a:solidFill>
                <a:latin typeface="+mn-lt"/>
              </a:rPr>
              <a:t>Places by number of reviews</a:t>
            </a:r>
          </a:p>
        </c:rich>
      </c:tx>
      <c:layout/>
      <c:overlay val="0"/>
    </c:title>
    <c:autoTitleDeleted val="0"/>
    <c:plotArea>
      <c:layout/>
      <c:barChart>
        <c:barDir val="col"/>
        <c:grouping val="clustered"/>
        <c:varyColors val="0"/>
        <c:ser>
          <c:idx val="0"/>
          <c:order val="0"/>
          <c:tx>
            <c:strRef>
              <c:f>Sheet1!$B$1</c:f>
              <c:strCache>
                <c:ptCount val="1"/>
                <c:pt idx="0">
                  <c:v>Places</c:v>
                </c:pt>
              </c:strCache>
            </c:strRef>
          </c:tx>
          <c:spPr>
            <a:solidFill>
              <a:srgbClr val="8A9A95"/>
            </a:solidFill>
            <a:effectLst/>
          </c:spPr>
          <c:invertIfNegative val="0"/>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dPt>
            <c:idx val="0"/>
            <c:invertIfNegative val="0"/>
            <c:bubble3D val="0"/>
            <c:spPr>
              <a:solidFill>
                <a:srgbClr val="8A9A95"/>
              </a:solidFill>
              <a:effectLst/>
            </c:spPr>
          </c:dPt>
          <c:dPt>
            <c:idx val="1"/>
            <c:invertIfNegative val="0"/>
            <c:bubble3D val="0"/>
            <c:spPr>
              <a:solidFill>
                <a:srgbClr val="006A4E"/>
              </a:solidFill>
              <a:effectLst/>
            </c:spPr>
          </c:dPt>
          <c:dPt>
            <c:idx val="2"/>
            <c:invertIfNegative val="0"/>
            <c:bubble3D val="0"/>
            <c:spPr>
              <a:solidFill>
                <a:srgbClr val="006A4E"/>
              </a:solidFill>
              <a:effectLst/>
            </c:spPr>
          </c:dPt>
          <c:dPt>
            <c:idx val="3"/>
            <c:invertIfNegative val="0"/>
            <c:bubble3D val="0"/>
            <c:spPr>
              <a:solidFill>
                <a:srgbClr val="F42A41"/>
              </a:solidFill>
              <a:effectLst/>
            </c:spPr>
          </c:dPt>
          <c:cat>
            <c:multiLvlStrRef>
              <c:f>Sheet1!$A$2:$A$5</c:f>
              <c:multiLvlStrCache>
                <c:ptCount val="4"/>
                <c:lvl>
                  <c:pt idx="0">
                    <c:v>1-10</c:v>
                  </c:pt>
                  <c:pt idx="1">
                    <c:v>11-99</c:v>
                  </c:pt>
                  <c:pt idx="2">
                    <c:v>100-999</c:v>
                  </c:pt>
                  <c:pt idx="3">
                    <c:v>1,000+</c:v>
                  </c:pt>
                </c:lvl>
              </c:multiLvlStrCache>
            </c:multiLvlStrRef>
          </c:cat>
          <c:val>
            <c:numRef>
              <c:f>Sheet1!$B$2:$B$5</c:f>
              <c:numCache>
                <c:formatCode>General</c:formatCode>
                <c:ptCount val="4"/>
                <c:pt idx="0">
                  <c:v>4854</c:v>
                </c:pt>
                <c:pt idx="1">
                  <c:v>2090</c:v>
                </c:pt>
                <c:pt idx="2">
                  <c:v>1085</c:v>
                </c:pt>
                <c:pt idx="3">
                  <c:v>192</c:v>
                </c:pt>
              </c:numCache>
            </c:numRef>
          </c:val>
        </c:ser>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F2D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mn-lt"/>
              </a:defRPr>
            </a:pPr>
            <a:r>
              <a:rPr sz="1400" b="0" i="0" u="none" strike="noStrike">
                <a:solidFill>
                  <a:srgbClr val="1F2D2A"/>
                </a:solidFill>
                <a:latin typeface="+mn-lt"/>
              </a:rPr>
              <a:t>% of places with an affluence value, by number of reviews</a:t>
            </a:r>
          </a:p>
        </c:rich>
      </c:tx>
      <c:layout/>
      <c:overlay val="0"/>
    </c:title>
    <c:autoTitleDeleted val="0"/>
    <c:plotArea>
      <c:layout/>
      <c:barChart>
        <c:barDir val="col"/>
        <c:grouping val="clustered"/>
        <c:varyColors val="0"/>
        <c:ser>
          <c:idx val="0"/>
          <c:order val="0"/>
          <c:tx>
            <c:strRef>
              <c:f>Sheet1!$B$1</c:f>
              <c:strCache>
                <c:ptCount val="1"/>
                <c:pt idx="0">
                  <c:v>% with affluence</c:v>
                </c:pt>
              </c:strCache>
            </c:strRef>
          </c:tx>
          <c:spPr>
            <a:solidFill>
              <a:srgbClr val="006A4E"/>
            </a:solidFill>
            <a:effectLst/>
          </c:spPr>
          <c:invertIfNegative val="0"/>
          <c:dLbls>
            <c:numFmt formatCode="0&quot;%&quot;"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cat>
            <c:multiLvlStrRef>
              <c:f>Sheet1!$A$2:$A$8</c:f>
              <c:multiLvlStrCache>
                <c:ptCount val="7"/>
                <c:lvl>
                  <c:pt idx="0">
                    <c:v>1</c:v>
                  </c:pt>
                  <c:pt idx="1">
                    <c:v>2-4</c:v>
                  </c:pt>
                  <c:pt idx="2">
                    <c:v>5-9</c:v>
                  </c:pt>
                  <c:pt idx="3">
                    <c:v>10-49</c:v>
                  </c:pt>
                  <c:pt idx="4">
                    <c:v>50-199</c:v>
                  </c:pt>
                  <c:pt idx="5">
                    <c:v>200-999</c:v>
                  </c:pt>
                  <c:pt idx="6">
                    <c:v>1000+</c:v>
                  </c:pt>
                </c:lvl>
              </c:multiLvlStrCache>
            </c:multiLvlStrRef>
          </c:cat>
          <c:val>
            <c:numRef>
              <c:f>Sheet1!$B$2:$B$8</c:f>
              <c:numCache>
                <c:formatCode>General</c:formatCode>
                <c:ptCount val="7"/>
                <c:pt idx="0">
                  <c:v>0</c:v>
                </c:pt>
                <c:pt idx="1">
                  <c:v>0</c:v>
                </c:pt>
                <c:pt idx="2">
                  <c:v>1</c:v>
                </c:pt>
                <c:pt idx="3">
                  <c:v>8</c:v>
                </c:pt>
                <c:pt idx="4">
                  <c:v>27</c:v>
                </c:pt>
                <c:pt idx="5">
                  <c:v>70</c:v>
                </c:pt>
                <c:pt idx="6">
                  <c:v>86</c:v>
                </c:pt>
              </c:numCache>
            </c:numRef>
          </c:val>
        </c:ser>
        <c:dLbls>
          <c:numFmt formatCode="0&quot;%&quot;"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F2D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mn-lt"/>
              </a:defRPr>
            </a:pPr>
            <a:r>
              <a:rPr sz="1400" b="0" i="0" u="none" strike="noStrike">
                <a:solidFill>
                  <a:srgbClr val="1F2D2A"/>
                </a:solidFill>
                <a:latin typeface="+mn-lt"/>
              </a:rPr>
              <a:t>Places by division</a:t>
            </a:r>
          </a:p>
        </c:rich>
      </c:tx>
      <c:layout/>
      <c:overlay val="0"/>
    </c:title>
    <c:autoTitleDeleted val="0"/>
    <c:plotArea>
      <c:layout/>
      <c:barChart>
        <c:barDir val="bar"/>
        <c:grouping val="clustered"/>
        <c:varyColors val="0"/>
        <c:ser>
          <c:idx val="0"/>
          <c:order val="0"/>
          <c:tx>
            <c:strRef>
              <c:f>Sheet1!$B$1</c:f>
              <c:strCache>
                <c:ptCount val="1"/>
                <c:pt idx="0">
                  <c:v>Places</c:v>
                </c:pt>
              </c:strCache>
            </c:strRef>
          </c:tx>
          <c:spPr>
            <a:solidFill>
              <a:srgbClr val="006A4E"/>
            </a:solidFill>
            <a:effectLst/>
          </c:spPr>
          <c:invertIfNegative val="0"/>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cat>
            <c:multiLvlStrRef>
              <c:f>Sheet1!$A$2:$A$8</c:f>
              <c:multiLvlStrCache>
                <c:ptCount val="7"/>
                <c:lvl>
                  <c:pt idx="0">
                    <c:v>Barishal</c:v>
                  </c:pt>
                  <c:pt idx="1">
                    <c:v>Sylhet</c:v>
                  </c:pt>
                  <c:pt idx="2">
                    <c:v>Rangpur</c:v>
                  </c:pt>
                  <c:pt idx="3">
                    <c:v>Khulna</c:v>
                  </c:pt>
                  <c:pt idx="4">
                    <c:v>Rajshahi</c:v>
                  </c:pt>
                  <c:pt idx="5">
                    <c:v>Chattogram</c:v>
                  </c:pt>
                  <c:pt idx="6">
                    <c:v>Dhaka</c:v>
                  </c:pt>
                </c:lvl>
              </c:multiLvlStrCache>
            </c:multiLvlStrRef>
          </c:cat>
          <c:val>
            <c:numRef>
              <c:f>Sheet1!$B$2:$B$8</c:f>
              <c:numCache>
                <c:formatCode>General</c:formatCode>
                <c:ptCount val="7"/>
                <c:pt idx="0">
                  <c:v>654</c:v>
                </c:pt>
                <c:pt idx="1">
                  <c:v>722</c:v>
                </c:pt>
                <c:pt idx="2">
                  <c:v>872</c:v>
                </c:pt>
                <c:pt idx="3">
                  <c:v>1170</c:v>
                </c:pt>
                <c:pt idx="4">
                  <c:v>1445</c:v>
                </c:pt>
                <c:pt idx="5">
                  <c:v>2107</c:v>
                </c:pt>
                <c:pt idx="6">
                  <c:v>3722</c:v>
                </c:pt>
              </c:numCache>
            </c:numRef>
          </c:val>
        </c:ser>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F2D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D2A"/>
                </a:solidFill>
                <a:latin typeface="+mn-lt"/>
              </a:defRPr>
            </a:pPr>
            <a:r>
              <a:rPr sz="1400" b="0" i="0" u="none" strike="noStrike">
                <a:solidFill>
                  <a:srgbClr val="1F2D2A"/>
                </a:solidFill>
                <a:latin typeface="+mn-lt"/>
              </a:rPr>
              <a:t>Places with the keyword in the name</a:t>
            </a:r>
          </a:p>
        </c:rich>
      </c:tx>
      <c:layout/>
      <c:overlay val="0"/>
    </c:title>
    <c:autoTitleDeleted val="0"/>
    <c:plotArea>
      <c:layout/>
      <c:barChart>
        <c:barDir val="bar"/>
        <c:grouping val="clustered"/>
        <c:varyColors val="0"/>
        <c:ser>
          <c:idx val="0"/>
          <c:order val="0"/>
          <c:tx>
            <c:strRef>
              <c:f>Sheet1!$B$1</c:f>
              <c:strCache>
                <c:ptCount val="1"/>
                <c:pt idx="0">
                  <c:v>Places</c:v>
                </c:pt>
              </c:strCache>
            </c:strRef>
          </c:tx>
          <c:spPr>
            <a:solidFill>
              <a:srgbClr val="006A4E"/>
            </a:solidFill>
            <a:effectLst/>
          </c:spPr>
          <c:invertIfNegative val="0"/>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cat>
            <c:multiLvlStrRef>
              <c:f>Sheet1!$A$2:$A$9</c:f>
              <c:multiLvlStrCache>
                <c:ptCount val="8"/>
                <c:lvl>
                  <c:pt idx="0">
                    <c:v>Tea stall</c:v>
                  </c:pt>
                  <c:pt idx="1">
                    <c:v>Biryani</c:v>
                  </c:pt>
                  <c:pt idx="2">
                    <c:v>Chinese / Thai</c:v>
                  </c:pt>
                  <c:pt idx="3">
                    <c:v>Sweets / Bakery</c:v>
                  </c:pt>
                  <c:pt idx="4">
                    <c:v>Fast food</c:v>
                  </c:pt>
                  <c:pt idx="5">
                    <c:v>Cafe / Coffee</c:v>
                  </c:pt>
                  <c:pt idx="6">
                    <c:v>Hotel (local eatery)</c:v>
                  </c:pt>
                  <c:pt idx="7">
                    <c:v>Restaurant</c:v>
                  </c:pt>
                </c:lvl>
              </c:multiLvlStrCache>
            </c:multiLvlStrRef>
          </c:cat>
          <c:val>
            <c:numRef>
              <c:f>Sheet1!$B$2:$B$9</c:f>
              <c:numCache>
                <c:formatCode>General</c:formatCode>
                <c:ptCount val="8"/>
                <c:pt idx="0">
                  <c:v>195</c:v>
                </c:pt>
                <c:pt idx="1">
                  <c:v>274</c:v>
                </c:pt>
                <c:pt idx="2">
                  <c:v>321</c:v>
                </c:pt>
                <c:pt idx="3">
                  <c:v>423</c:v>
                </c:pt>
                <c:pt idx="4">
                  <c:v>466</c:v>
                </c:pt>
                <c:pt idx="5">
                  <c:v>715</c:v>
                </c:pt>
                <c:pt idx="6">
                  <c:v>2445</c:v>
                </c:pt>
                <c:pt idx="7">
                  <c:v>3762</c:v>
                </c:pt>
              </c:numCache>
            </c:numRef>
          </c:val>
        </c:ser>
        <c:dLbls>
          <c:numFmt formatCode="#,##0" sourceLinked="0"/>
          <c:txPr>
            <a:bodyPr/>
            <a:lstStyle/>
            <a:p>
              <a:pPr>
                <a:defRPr b="0" i="0" strike="noStrike" sz="1200" u="none">
                  <a:solidFill>
                    <a:srgbClr val="1F2D2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D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F2D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I'm going to walk you through a dataset of restaurants and food places across Bangladesh. It looks simple: a name, a location, a star rating, and a review count. But it hides some surprises, and if you don't know about them, you can easily draw the wrong conclusions. By the end, you'll know what's in this data, what to trust, and what to be careful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The file we received has 12,703 rows and eight columns: an ID, the name, latitude and longitude, a rating, a number of reviews, something called 'affluence', and an address.
But 12,703 is not the real number of places. After cleaning, we have 10,755 unique places. Of those, 8,226 have a star rating, and together they have collected 921,186 reviews.
Geographically, almost everything is inside Bangladesh, from the far north to Cox's Bazar in the south. A small number, 63 places, sit just across the border in India, so we flagged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we had to fix four things.
First, duplicates. 15% of the rows were exact copies of another row. One restaurant appeared 13 times. If we hadn't removed these, popular places would look even more popular than they are.
Second, the rating zero. 2,528 places, about 24%, have a rating of zero. But zero stars isn't a real rating. Every one of those places also has no reviews. So zero here simply means 'nobody has rated this yet'. If we counted them as real zeros, the average rating would drop from 4.08 to about 3.1, which would be completely misleading.
Third, the affluence column is 90% empty. And it's not empty at random. It only exists for places with at least 4 reviews. I'll come back to that.
Fourth, not everything in the file is a restaurant. By a conservative name check, about 3% look like shops, telecom stores, schools and farms. The true number is probably higher. We flagged these rather than deleting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ratings. Among the 8,226 rated places, the average is 4.08 stars, and the median is 4.1. People are generous: 65% of rated places score 4.0 or higher, and only 5% score below 3.
Look at the chart. There's a hump around 4.0, which is what you'd expect. But look at the right edge. There's a huge spike at a perfect 5.0: 1,778 places. That's the single most common rating in the whole dataset. Real restaurants don't behave like that, so something else is going on. Let's look at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key insight of this whole analysis. Look at how the share of perfect 5.0 scores changes with the number of reviews.
Places with just one review: 61% of them have a perfect 5.0. With two to four reviews, 32%. With ten to forty-nine reviews, it drops to under 1%. And with fifty or more reviews, there are zero perfect scores. Not a single one. In fact no 5.0 place has more than 20 reviews.
So a 5.0 doesn't mean 'excellent'. It usually means 'one or two people liked it'. The more reviews a place has, the more its rating settles around 4. Among places with a hundred reviews or more, the highest rating anywhere is 4.7.
The practical lesson: never rank restaurants by raw rating. Either require a minimum number of reviews, or use an adjusted score that pulls small-sample ratings towards the average. We did the second, and I'll show you the results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are extremely unequal. The typical place has just 6 reviews. The average is 112, which is far higher because a few giants pull it up. The biggest, Hotel Noorjahan in Cumilla, has 17,655 reviews.
59% of places with reviews have ten or fewer. Only 192 places have a thousand or more. Yet the top one percent of places hold 36% of all reviews, and the top ten percent hold 83%.
What does this mean? Review count measures visibility, not quality. A place with seventeen thousand reviews and 3.5 stars is very famous, not necessarily very good. And it means only about 21% of the dataset, 2,253 places, has both a rating and at least thirty reviews. That's the trustworthy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mysterious affluence column. It runs from 1 to 4 and looks like a price level, but I want to stress that's our assumption, because there is no documentation.
Only 1,026 places, 10%, have a value. Look at the chart: places with fewer than ten reviews almost never have one. Among places with a thousand or more reviews, 86% do. So affluence exists mostly for popular places.
Among those that have it, level 2 dominates with 66%, level 1 has 29%, and levels 3 and 4 are rare: just 41 and 13 places. Average ratings creep up slightly with affluence, from 3.96 at level 1 to 4.26 at level 4, but with only 13 places at the top level, I wouldn't build a story on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geography. The map shows the density of places. Notice how the whole country is covered, with big concentrations around Dhaka and Chattogram.
By division, Dhaka has the most, about 35% of the places, followed by Chattogram, Rajshahi and Khulna. One note: our geographic data uses the older seven-division map, so the newer Mymensingh division is counted inside Dhaka.
But the real story is the gap between the capital and the rest. Greater Dhaka, meaning within twenty kilometres of the centre, holds only 12% of the places, yet it gets 51% of all the reviews. The median Dhaka place has 55 reviews. Elsewhere it's 5. And 25% of places outside Greater Dhaka have no rating at all, compared with 11% inside.
Average ratings are very similar across divisions, around 4.0 to 4.2. But outside the big cities those averages rest on much thinner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peek at the names. About 32% are written in Bengali script and the rest in English letters. That matters for two reasons. First, the same business can be spelled many ways, so matching names needs both scripts. Second, Bengali-named places tend to be less visible online: 30% of them are unrated, compared with 20% of English-named ones, and only 2% are in Greater Dhaka.
Looking at keywords, 'Restaurant' appears in 3,762 names and 'Hotel' in 2,445. In Bangladesh, a 'hotel' is usually a local eatery, not somewhere to sleep. Then come cafes, fast food, sweets and bakeries.
We also see repeated names that suggest chains or popular naming: 'Bismillah' appears in 162 names and 'Bhai Bhai' in 118.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who are the standouts? On the left, the most-reviewed places in the file. Hotel Noorjahan, Star Kebab and Sultan's Dine each have more than fifteen thousand reviews.
On the right, the best places once we correct for small samples, looking only at places with at least five hundred reviews. These are genuinely well-loved: high ratings backed by thousands of reviews. Notice the ratings are around 4.5, not 5.0. That's what real excellence looks like in this data.
One caveat: our charts only show English-script names, because of font limits, so some famous Bengali-named places are not shown. The full lists are in the text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five things to remember.
One: this file has 12,703 rows but only 10,755 real places.
Two: a rating of zero means 'no rating', never a bad score.
Three: a perfect 5.0 almost always means one or two reviews. Don't trust it.
Four: reviews are concentrated in a few places, mainly in Dhaka, so review count measures fame, not quality.
Five: affluence is incomplete and only covers popular places.
If you remember nothing else: remove duplicates, treat zero as missing, and require a minimum number of reviews before you rank anything.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D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377440"/>
            <a:ext cx="8046720" cy="6400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B3D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8046720" cy="1188720"/>
          </a:xfrm>
          <a:prstGeom prst="rect">
            <a:avLst/>
          </a:prstGeom>
          <a:noFill/>
          <a:ln/>
        </p:spPr>
        <p:txBody>
          <a:bodyPr wrap="square" lIns="0" tIns="0" rIns="0" bIns="0" rtlCol="0" anchor="b"/>
          <a:lstStyle/>
          <a:p>
            <a:pPr algn="l" indent="0" marL="0">
              <a:buNone/>
            </a:pPr>
            <a:r>
              <a:rPr lang="en-US" sz="4400" b="1" dirty="0">
                <a:solidFill>
                  <a:schemeClr val="bg1"/>
                </a:solidFill>
              </a:rPr>
              <a:t>Bangladesh Restaurant Data</a:t>
            </a:r>
            <a:endParaRPr lang="en-US" sz="4400" dirty="0"/>
          </a:p>
        </p:txBody>
      </p:sp>
      <p:sp>
        <p:nvSpPr>
          <p:cNvPr id="3" name="Text 0"/>
          <p:cNvSpPr/>
          <p:nvPr>
            <p:ph idx="101" type="body" hasCustomPrompt="1"/>
          </p:nvPr>
        </p:nvSpPr>
        <p:spPr>
          <a:xfrm>
            <a:off x="548640" y="2377440"/>
            <a:ext cx="8046720" cy="640080"/>
          </a:xfrm>
          <a:prstGeom prst="rect">
            <a:avLst/>
          </a:prstGeom>
          <a:noFill/>
          <a:ln/>
        </p:spPr>
        <p:txBody>
          <a:bodyPr wrap="square" lIns="0" tIns="0" rIns="0" bIns="0" rtlCol="0" anchor="t"/>
          <a:lstStyle/>
          <a:p>
            <a:pPr algn="l" indent="0" marL="0">
              <a:buNone/>
            </a:pPr>
            <a:r>
              <a:rPr lang="en-US" sz="1800" dirty="0">
                <a:solidFill>
                  <a:schemeClr val="bg2"/>
                </a:solidFill>
              </a:rPr>
              <a:t>What is inside, what to trust, and what to watch out for</a:t>
            </a:r>
            <a:endParaRPr lang="en-US" sz="1800" dirty="0"/>
          </a:p>
        </p:txBody>
      </p:sp>
      <p:sp>
        <p:nvSpPr>
          <p:cNvPr id="4" name="Title stat card 1"/>
          <p:cNvSpPr/>
          <p:nvPr/>
        </p:nvSpPr>
        <p:spPr>
          <a:xfrm>
            <a:off x="548640" y="3474720"/>
            <a:ext cx="2468880" cy="1097280"/>
          </a:xfrm>
          <a:prstGeom prst="roundRect">
            <a:avLst>
              <a:gd name="adj" fmla="val 6667"/>
            </a:avLst>
          </a:prstGeom>
          <a:solidFill>
            <a:schemeClr val="accent1"/>
          </a:solidFill>
          <a:ln w="12700">
            <a:solidFill>
              <a:schemeClr val="accent1"/>
            </a:solidFill>
            <a:prstDash val="solid"/>
          </a:ln>
        </p:spPr>
      </p:sp>
      <p:sp>
        <p:nvSpPr>
          <p:cNvPr id="5" name="Title stat value 1"/>
          <p:cNvSpPr txBox="1"/>
          <p:nvPr/>
        </p:nvSpPr>
        <p:spPr>
          <a:xfrm>
            <a:off x="685800" y="3520440"/>
            <a:ext cx="2194560" cy="5943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10,755</a:t>
            </a:r>
            <a:endParaRPr lang="en-US" sz="3200" dirty="0"/>
          </a:p>
        </p:txBody>
      </p:sp>
      <p:sp>
        <p:nvSpPr>
          <p:cNvPr id="6" name="Title stat label 1"/>
          <p:cNvSpPr txBox="1"/>
          <p:nvPr/>
        </p:nvSpPr>
        <p:spPr>
          <a:xfrm>
            <a:off x="685800" y="4114800"/>
            <a:ext cx="2194560" cy="365760"/>
          </a:xfrm>
          <a:prstGeom prst="rect">
            <a:avLst/>
          </a:prstGeom>
          <a:noFill/>
          <a:ln/>
        </p:spPr>
        <p:txBody>
          <a:bodyPr wrap="square" lIns="0" tIns="0" rIns="0" bIns="0" rtlCol="0" anchor="t"/>
          <a:lstStyle/>
          <a:p>
            <a:pPr indent="0" marL="0">
              <a:buNone/>
            </a:pPr>
            <a:r>
              <a:rPr lang="en-US" sz="1400" dirty="0">
                <a:solidFill>
                  <a:schemeClr val="bg2"/>
                </a:solidFill>
              </a:rPr>
              <a:t>unique places</a:t>
            </a:r>
            <a:endParaRPr lang="en-US" sz="1400" dirty="0"/>
          </a:p>
        </p:txBody>
      </p:sp>
      <p:sp>
        <p:nvSpPr>
          <p:cNvPr id="7" name="Title stat card 2"/>
          <p:cNvSpPr/>
          <p:nvPr/>
        </p:nvSpPr>
        <p:spPr>
          <a:xfrm>
            <a:off x="3291840" y="3474720"/>
            <a:ext cx="2468880" cy="1097280"/>
          </a:xfrm>
          <a:prstGeom prst="roundRect">
            <a:avLst>
              <a:gd name="adj" fmla="val 6667"/>
            </a:avLst>
          </a:prstGeom>
          <a:solidFill>
            <a:schemeClr val="accent1"/>
          </a:solidFill>
          <a:ln w="12700">
            <a:solidFill>
              <a:schemeClr val="accent1"/>
            </a:solidFill>
            <a:prstDash val="solid"/>
          </a:ln>
        </p:spPr>
      </p:sp>
      <p:sp>
        <p:nvSpPr>
          <p:cNvPr id="8" name="Title stat value 2"/>
          <p:cNvSpPr txBox="1"/>
          <p:nvPr/>
        </p:nvSpPr>
        <p:spPr>
          <a:xfrm>
            <a:off x="3429000" y="3520440"/>
            <a:ext cx="2194560" cy="5943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921,186</a:t>
            </a:r>
            <a:endParaRPr lang="en-US" sz="3200" dirty="0"/>
          </a:p>
        </p:txBody>
      </p:sp>
      <p:sp>
        <p:nvSpPr>
          <p:cNvPr id="9" name="Title stat label 2"/>
          <p:cNvSpPr txBox="1"/>
          <p:nvPr/>
        </p:nvSpPr>
        <p:spPr>
          <a:xfrm>
            <a:off x="3429000" y="4114800"/>
            <a:ext cx="2194560" cy="365760"/>
          </a:xfrm>
          <a:prstGeom prst="rect">
            <a:avLst/>
          </a:prstGeom>
          <a:noFill/>
          <a:ln/>
        </p:spPr>
        <p:txBody>
          <a:bodyPr wrap="square" lIns="0" tIns="0" rIns="0" bIns="0" rtlCol="0" anchor="t"/>
          <a:lstStyle/>
          <a:p>
            <a:pPr indent="0" marL="0">
              <a:buNone/>
            </a:pPr>
            <a:r>
              <a:rPr lang="en-US" sz="1400" dirty="0">
                <a:solidFill>
                  <a:schemeClr val="bg2"/>
                </a:solidFill>
              </a:rPr>
              <a:t>reviews</a:t>
            </a:r>
            <a:endParaRPr lang="en-US" sz="1400" dirty="0"/>
          </a:p>
        </p:txBody>
      </p:sp>
      <p:sp>
        <p:nvSpPr>
          <p:cNvPr id="10" name="Title stat card 3"/>
          <p:cNvSpPr/>
          <p:nvPr/>
        </p:nvSpPr>
        <p:spPr>
          <a:xfrm>
            <a:off x="6035040" y="3474720"/>
            <a:ext cx="2468880" cy="1097280"/>
          </a:xfrm>
          <a:prstGeom prst="roundRect">
            <a:avLst>
              <a:gd name="adj" fmla="val 6667"/>
            </a:avLst>
          </a:prstGeom>
          <a:solidFill>
            <a:schemeClr val="accent1"/>
          </a:solidFill>
          <a:ln w="12700">
            <a:solidFill>
              <a:schemeClr val="accent1"/>
            </a:solidFill>
            <a:prstDash val="solid"/>
          </a:ln>
        </p:spPr>
      </p:sp>
      <p:sp>
        <p:nvSpPr>
          <p:cNvPr id="11" name="Title stat value 3"/>
          <p:cNvSpPr txBox="1"/>
          <p:nvPr/>
        </p:nvSpPr>
        <p:spPr>
          <a:xfrm>
            <a:off x="6172200" y="3520440"/>
            <a:ext cx="2194560" cy="59436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24%</a:t>
            </a:r>
            <a:endParaRPr lang="en-US" sz="3200" dirty="0"/>
          </a:p>
        </p:txBody>
      </p:sp>
      <p:sp>
        <p:nvSpPr>
          <p:cNvPr id="12" name="Title stat label 3"/>
          <p:cNvSpPr txBox="1"/>
          <p:nvPr/>
        </p:nvSpPr>
        <p:spPr>
          <a:xfrm>
            <a:off x="6172200" y="4114800"/>
            <a:ext cx="2194560" cy="365760"/>
          </a:xfrm>
          <a:prstGeom prst="rect">
            <a:avLst/>
          </a:prstGeom>
          <a:noFill/>
          <a:ln/>
        </p:spPr>
        <p:txBody>
          <a:bodyPr wrap="square" lIns="0" tIns="0" rIns="0" bIns="0" rtlCol="0" anchor="t"/>
          <a:lstStyle/>
          <a:p>
            <a:pPr indent="0" marL="0">
              <a:buNone/>
            </a:pPr>
            <a:r>
              <a:rPr lang="en-US" sz="1400" dirty="0">
                <a:solidFill>
                  <a:schemeClr val="bg2"/>
                </a:solidFill>
              </a:rPr>
              <a:t>unrated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data at a glance</a:t>
            </a:r>
            <a:endParaRPr lang="en-US" sz="3200" dirty="0"/>
          </a:p>
        </p:txBody>
      </p:sp>
      <p:sp>
        <p:nvSpPr>
          <p:cNvPr id="3" name="Glance 1 card"/>
          <p:cNvSpPr/>
          <p:nvPr/>
        </p:nvSpPr>
        <p:spPr>
          <a:xfrm>
            <a:off x="457200" y="1188720"/>
            <a:ext cx="2514600" cy="1417320"/>
          </a:xfrm>
          <a:prstGeom prst="roundRect">
            <a:avLst>
              <a:gd name="adj" fmla="val 5161"/>
            </a:avLst>
          </a:prstGeom>
          <a:solidFill>
            <a:schemeClr val="bg2"/>
          </a:solidFill>
          <a:ln w="12700">
            <a:solidFill>
              <a:schemeClr val="bg2"/>
            </a:solidFill>
            <a:prstDash val="solid"/>
          </a:ln>
        </p:spPr>
      </p:sp>
      <p:sp>
        <p:nvSpPr>
          <p:cNvPr id="4" name="Glance 1 value"/>
          <p:cNvSpPr txBox="1"/>
          <p:nvPr/>
        </p:nvSpPr>
        <p:spPr>
          <a:xfrm>
            <a:off x="594360" y="1298448"/>
            <a:ext cx="2240280" cy="779526"/>
          </a:xfrm>
          <a:prstGeom prst="rect">
            <a:avLst/>
          </a:prstGeom>
          <a:noFill/>
          <a:ln/>
        </p:spPr>
        <p:txBody>
          <a:bodyPr wrap="square" lIns="0" tIns="0" rIns="0" bIns="0" rtlCol="0" anchor="ctr"/>
          <a:lstStyle/>
          <a:p>
            <a:pPr algn="l" indent="0" marL="0">
              <a:buNone/>
            </a:pPr>
            <a:r>
              <a:rPr lang="en-US" sz="3800" b="1" dirty="0">
                <a:solidFill>
                  <a:schemeClr val="accent4"/>
                </a:solidFill>
                <a:latin typeface="Cambria" pitchFamily="34" charset="0"/>
                <a:ea typeface="Cambria" pitchFamily="34" charset="-122"/>
                <a:cs typeface="Cambria" pitchFamily="34" charset="-120"/>
              </a:rPr>
              <a:t>12,703</a:t>
            </a:r>
            <a:endParaRPr lang="en-US" sz="3800" dirty="0"/>
          </a:p>
        </p:txBody>
      </p:sp>
      <p:sp>
        <p:nvSpPr>
          <p:cNvPr id="5" name="Glance 1 label"/>
          <p:cNvSpPr txBox="1"/>
          <p:nvPr/>
        </p:nvSpPr>
        <p:spPr>
          <a:xfrm>
            <a:off x="594360" y="2067458"/>
            <a:ext cx="2240280" cy="481889"/>
          </a:xfrm>
          <a:prstGeom prst="rect">
            <a:avLst/>
          </a:prstGeom>
          <a:noFill/>
          <a:ln/>
        </p:spPr>
        <p:txBody>
          <a:bodyPr wrap="square" lIns="0" tIns="0" rIns="0" bIns="0" rtlCol="0" anchor="t"/>
          <a:lstStyle/>
          <a:p>
            <a:pPr algn="l" indent="0" marL="0">
              <a:buNone/>
            </a:pPr>
            <a:r>
              <a:rPr lang="en-US" sz="1400" dirty="0">
                <a:solidFill>
                  <a:schemeClr val="tx1"/>
                </a:solidFill>
              </a:rPr>
              <a:t>raw rows in the file</a:t>
            </a:r>
            <a:endParaRPr lang="en-US" sz="1400" dirty="0"/>
          </a:p>
        </p:txBody>
      </p:sp>
      <p:sp>
        <p:nvSpPr>
          <p:cNvPr id="6" name="Glance 2 card"/>
          <p:cNvSpPr/>
          <p:nvPr/>
        </p:nvSpPr>
        <p:spPr>
          <a:xfrm>
            <a:off x="3154680" y="1188720"/>
            <a:ext cx="2514600" cy="1417320"/>
          </a:xfrm>
          <a:prstGeom prst="roundRect">
            <a:avLst>
              <a:gd name="adj" fmla="val 5161"/>
            </a:avLst>
          </a:prstGeom>
          <a:solidFill>
            <a:schemeClr val="bg2"/>
          </a:solidFill>
          <a:ln w="12700">
            <a:solidFill>
              <a:schemeClr val="bg2"/>
            </a:solidFill>
            <a:prstDash val="solid"/>
          </a:ln>
        </p:spPr>
      </p:sp>
      <p:sp>
        <p:nvSpPr>
          <p:cNvPr id="7" name="Glance 2 value"/>
          <p:cNvSpPr txBox="1"/>
          <p:nvPr/>
        </p:nvSpPr>
        <p:spPr>
          <a:xfrm>
            <a:off x="3291840" y="1298448"/>
            <a:ext cx="2240280" cy="779526"/>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10,755</a:t>
            </a:r>
            <a:endParaRPr lang="en-US" sz="3800" dirty="0"/>
          </a:p>
        </p:txBody>
      </p:sp>
      <p:sp>
        <p:nvSpPr>
          <p:cNvPr id="8" name="Glance 2 label"/>
          <p:cNvSpPr txBox="1"/>
          <p:nvPr/>
        </p:nvSpPr>
        <p:spPr>
          <a:xfrm>
            <a:off x="3291840" y="2067458"/>
            <a:ext cx="2240280" cy="481889"/>
          </a:xfrm>
          <a:prstGeom prst="rect">
            <a:avLst/>
          </a:prstGeom>
          <a:noFill/>
          <a:ln/>
        </p:spPr>
        <p:txBody>
          <a:bodyPr wrap="square" lIns="0" tIns="0" rIns="0" bIns="0" rtlCol="0" anchor="t"/>
          <a:lstStyle/>
          <a:p>
            <a:pPr algn="l" indent="0" marL="0">
              <a:buNone/>
            </a:pPr>
            <a:r>
              <a:rPr lang="en-US" sz="1400" dirty="0">
                <a:solidFill>
                  <a:schemeClr val="tx1"/>
                </a:solidFill>
              </a:rPr>
              <a:t>unique places after cleaning</a:t>
            </a:r>
            <a:endParaRPr lang="en-US" sz="1400" dirty="0"/>
          </a:p>
        </p:txBody>
      </p:sp>
      <p:sp>
        <p:nvSpPr>
          <p:cNvPr id="9" name="Glance 3 card"/>
          <p:cNvSpPr/>
          <p:nvPr/>
        </p:nvSpPr>
        <p:spPr>
          <a:xfrm>
            <a:off x="457200" y="2788920"/>
            <a:ext cx="2514600" cy="1417320"/>
          </a:xfrm>
          <a:prstGeom prst="roundRect">
            <a:avLst>
              <a:gd name="adj" fmla="val 5161"/>
            </a:avLst>
          </a:prstGeom>
          <a:solidFill>
            <a:schemeClr val="bg2"/>
          </a:solidFill>
          <a:ln w="12700">
            <a:solidFill>
              <a:schemeClr val="bg2"/>
            </a:solidFill>
            <a:prstDash val="solid"/>
          </a:ln>
        </p:spPr>
      </p:sp>
      <p:sp>
        <p:nvSpPr>
          <p:cNvPr id="10" name="Glance 3 value"/>
          <p:cNvSpPr txBox="1"/>
          <p:nvPr/>
        </p:nvSpPr>
        <p:spPr>
          <a:xfrm>
            <a:off x="594360" y="2898648"/>
            <a:ext cx="2240280" cy="779526"/>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8,226</a:t>
            </a:r>
            <a:endParaRPr lang="en-US" sz="3800" dirty="0"/>
          </a:p>
        </p:txBody>
      </p:sp>
      <p:sp>
        <p:nvSpPr>
          <p:cNvPr id="11" name="Glance 3 label"/>
          <p:cNvSpPr txBox="1"/>
          <p:nvPr/>
        </p:nvSpPr>
        <p:spPr>
          <a:xfrm>
            <a:off x="594360" y="3667658"/>
            <a:ext cx="2240280" cy="481889"/>
          </a:xfrm>
          <a:prstGeom prst="rect">
            <a:avLst/>
          </a:prstGeom>
          <a:noFill/>
          <a:ln/>
        </p:spPr>
        <p:txBody>
          <a:bodyPr wrap="square" lIns="0" tIns="0" rIns="0" bIns="0" rtlCol="0" anchor="t"/>
          <a:lstStyle/>
          <a:p>
            <a:pPr algn="l" indent="0" marL="0">
              <a:buNone/>
            </a:pPr>
            <a:r>
              <a:rPr lang="en-US" sz="1400" dirty="0">
                <a:solidFill>
                  <a:schemeClr val="tx1"/>
                </a:solidFill>
              </a:rPr>
              <a:t>places with a star rating</a:t>
            </a:r>
            <a:endParaRPr lang="en-US" sz="1400" dirty="0"/>
          </a:p>
        </p:txBody>
      </p:sp>
      <p:sp>
        <p:nvSpPr>
          <p:cNvPr id="12" name="Glance 4 card"/>
          <p:cNvSpPr/>
          <p:nvPr/>
        </p:nvSpPr>
        <p:spPr>
          <a:xfrm>
            <a:off x="3154680" y="2788920"/>
            <a:ext cx="2514600" cy="1417320"/>
          </a:xfrm>
          <a:prstGeom prst="roundRect">
            <a:avLst>
              <a:gd name="adj" fmla="val 5161"/>
            </a:avLst>
          </a:prstGeom>
          <a:solidFill>
            <a:schemeClr val="bg2"/>
          </a:solidFill>
          <a:ln w="12700">
            <a:solidFill>
              <a:schemeClr val="bg2"/>
            </a:solidFill>
            <a:prstDash val="solid"/>
          </a:ln>
        </p:spPr>
      </p:sp>
      <p:sp>
        <p:nvSpPr>
          <p:cNvPr id="13" name="Glance 4 value"/>
          <p:cNvSpPr txBox="1"/>
          <p:nvPr/>
        </p:nvSpPr>
        <p:spPr>
          <a:xfrm>
            <a:off x="3291840" y="2898648"/>
            <a:ext cx="2240280" cy="779526"/>
          </a:xfrm>
          <a:prstGeom prst="rect">
            <a:avLst/>
          </a:prstGeom>
          <a:noFill/>
          <a:ln/>
        </p:spPr>
        <p:txBody>
          <a:bodyPr wrap="square" lIns="0" tIns="0" rIns="0" bIns="0" rtlCol="0" anchor="ctr"/>
          <a:lstStyle/>
          <a:p>
            <a:pPr algn="l" indent="0" marL="0">
              <a:buNone/>
            </a:pPr>
            <a:r>
              <a:rPr lang="en-US" sz="3800" b="1" dirty="0">
                <a:solidFill>
                  <a:schemeClr val="accent2"/>
                </a:solidFill>
                <a:latin typeface="Cambria" pitchFamily="34" charset="0"/>
                <a:ea typeface="Cambria" pitchFamily="34" charset="-122"/>
                <a:cs typeface="Cambria" pitchFamily="34" charset="-120"/>
              </a:rPr>
              <a:t>921,186</a:t>
            </a:r>
            <a:endParaRPr lang="en-US" sz="3800" dirty="0"/>
          </a:p>
        </p:txBody>
      </p:sp>
      <p:sp>
        <p:nvSpPr>
          <p:cNvPr id="14" name="Glance 4 label"/>
          <p:cNvSpPr txBox="1"/>
          <p:nvPr/>
        </p:nvSpPr>
        <p:spPr>
          <a:xfrm>
            <a:off x="3291840" y="3667658"/>
            <a:ext cx="2240280" cy="481889"/>
          </a:xfrm>
          <a:prstGeom prst="rect">
            <a:avLst/>
          </a:prstGeom>
          <a:noFill/>
          <a:ln/>
        </p:spPr>
        <p:txBody>
          <a:bodyPr wrap="square" lIns="0" tIns="0" rIns="0" bIns="0" rtlCol="0" anchor="t"/>
          <a:lstStyle/>
          <a:p>
            <a:pPr algn="l" indent="0" marL="0">
              <a:buNone/>
            </a:pPr>
            <a:r>
              <a:rPr lang="en-US" sz="1400" dirty="0">
                <a:solidFill>
                  <a:schemeClr val="tx1"/>
                </a:solidFill>
              </a:rPr>
              <a:t>reviews in total</a:t>
            </a:r>
            <a:endParaRPr lang="en-US" sz="1400" dirty="0"/>
          </a:p>
        </p:txBody>
      </p:sp>
      <p:sp>
        <p:nvSpPr>
          <p:cNvPr id="15" name="Glance notes"/>
          <p:cNvSpPr txBox="1"/>
          <p:nvPr/>
        </p:nvSpPr>
        <p:spPr>
          <a:xfrm>
            <a:off x="5989320" y="1188720"/>
            <a:ext cx="2697480" cy="30175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8 columns</a:t>
            </a:r>
            <a:endParaRPr lang="en-US" sz="1400" dirty="0"/>
          </a:p>
          <a:p>
            <a:pPr indent="0" marL="0">
              <a:spcAft>
                <a:spcPts val="400"/>
              </a:spcAft>
              <a:buNone/>
            </a:pPr>
            <a:r>
              <a:rPr lang="en-US" sz="1400" dirty="0">
                <a:solidFill>
                  <a:schemeClr val="tx1"/>
                </a:solidFill>
              </a:rPr>
              <a:t>place_id, name, latitude, longitude, rating, number_of_reviews, affluence, address</a:t>
            </a:r>
            <a:endParaRPr lang="en-US" sz="1400" dirty="0"/>
          </a:p>
          <a:p>
            <a:pPr indent="0" marL="0">
              <a:spcAft>
                <a:spcPts val="400"/>
              </a:spcAft>
              <a:buNone/>
            </a:pPr>
            <a:r>
              <a:rPr lang="en-US" sz="800" dirty="0">
                <a:solidFill>
                  <a:schemeClr val="tx1"/>
                </a:solidFill>
              </a:rPr>
              <a:t> </a:t>
            </a:r>
            <a:endParaRPr lang="en-US" sz="1400" dirty="0"/>
          </a:p>
          <a:p>
            <a:pPr indent="0" marL="0">
              <a:spcAft>
                <a:spcPts val="400"/>
              </a:spcAft>
              <a:buNone/>
            </a:pPr>
            <a:r>
              <a:rPr lang="en-US" sz="1400" dirty="0">
                <a:solidFill>
                  <a:schemeClr val="tx1"/>
                </a:solidFill>
              </a:rPr>
              <a:t>63 border places are in India (flagged)</a:t>
            </a:r>
            <a:endParaRPr lang="en-US" sz="1400" dirty="0"/>
          </a:p>
          <a:p>
            <a:pPr indent="0" marL="0">
              <a:spcAft>
                <a:spcPts val="400"/>
              </a:spcAft>
              <a:buNone/>
            </a:pPr>
            <a:r>
              <a:rPr lang="en-US" sz="1400" dirty="0">
                <a:solidFill>
                  <a:schemeClr val="tx1"/>
                </a:solidFill>
              </a:rPr>
              <a:t>Affluence = a 1-4 level, probably price (undocumented)</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we had to clean</a:t>
            </a:r>
            <a:endParaRPr lang="en-US" sz="3200" dirty="0"/>
          </a:p>
        </p:txBody>
      </p:sp>
      <p:sp>
        <p:nvSpPr>
          <p:cNvPr id="3" name="Clean card 1"/>
          <p:cNvSpPr/>
          <p:nvPr/>
        </p:nvSpPr>
        <p:spPr>
          <a:xfrm>
            <a:off x="457200" y="1143000"/>
            <a:ext cx="4023360" cy="1600200"/>
          </a:xfrm>
          <a:prstGeom prst="roundRect">
            <a:avLst>
              <a:gd name="adj" fmla="val 4571"/>
            </a:avLst>
          </a:prstGeom>
          <a:solidFill>
            <a:schemeClr val="bg2"/>
          </a:solidFill>
          <a:ln w="12700">
            <a:solidFill>
              <a:schemeClr val="bg2"/>
            </a:solidFill>
            <a:prstDash val="solid"/>
          </a:ln>
        </p:spPr>
      </p:sp>
      <p:sp>
        <p:nvSpPr>
          <p:cNvPr id="4" name="Clean icon bg 1"/>
          <p:cNvSpPr/>
          <p:nvPr/>
        </p:nvSpPr>
        <p:spPr>
          <a:xfrm>
            <a:off x="640080" y="1371600"/>
            <a:ext cx="594360" cy="594360"/>
          </a:xfrm>
          <a:prstGeom prst="ellipse">
            <a:avLst/>
          </a:prstGeom>
          <a:solidFill>
            <a:schemeClr val="accent1"/>
          </a:solidFill>
          <a:ln w="12700">
            <a:solidFill>
              <a:schemeClr val="accent1"/>
            </a:solidFill>
            <a:prstDash val="solid"/>
          </a:ln>
        </p:spPr>
      </p:sp>
      <p:pic>
        <p:nvPicPr>
          <p:cNvPr id="5" name="Image 0" descr="15% duplicate rows">    </p:cNvPr>
          <p:cNvPicPr>
            <a:picLocks noChangeAspect="1"/>
          </p:cNvPicPr>
          <p:nvPr/>
        </p:nvPicPr>
        <p:blipFill>
          <a:blip r:embed="rId1"/>
          <a:stretch>
            <a:fillRect/>
          </a:stretch>
        </p:blipFill>
        <p:spPr>
          <a:xfrm>
            <a:off x="795528" y="1527048"/>
            <a:ext cx="283464" cy="283464"/>
          </a:xfrm>
          <a:prstGeom prst="rect">
            <a:avLst/>
          </a:prstGeom>
        </p:spPr>
      </p:pic>
      <p:sp>
        <p:nvSpPr>
          <p:cNvPr id="6" name="Clean head 1"/>
          <p:cNvSpPr txBox="1"/>
          <p:nvPr/>
        </p:nvSpPr>
        <p:spPr>
          <a:xfrm>
            <a:off x="1417320" y="1325880"/>
            <a:ext cx="29260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15% duplicate rows</a:t>
            </a:r>
            <a:endParaRPr lang="en-US" sz="2000" dirty="0"/>
          </a:p>
        </p:txBody>
      </p:sp>
      <p:sp>
        <p:nvSpPr>
          <p:cNvPr id="7" name="Clean text 1"/>
          <p:cNvSpPr txBox="1"/>
          <p:nvPr/>
        </p:nvSpPr>
        <p:spPr>
          <a:xfrm>
            <a:off x="1417320" y="1828800"/>
            <a:ext cx="2926080" cy="777240"/>
          </a:xfrm>
          <a:prstGeom prst="rect">
            <a:avLst/>
          </a:prstGeom>
          <a:noFill/>
          <a:ln/>
        </p:spPr>
        <p:txBody>
          <a:bodyPr wrap="square" lIns="0" tIns="0" rIns="0" bIns="0" rtlCol="0" anchor="t"/>
          <a:lstStyle/>
          <a:p>
            <a:pPr indent="0" marL="0">
              <a:buNone/>
            </a:pPr>
            <a:r>
              <a:rPr lang="en-US" sz="1400" dirty="0">
                <a:solidFill>
                  <a:schemeClr val="tx1"/>
                </a:solidFill>
              </a:rPr>
              <a:t>12,703 rows shrink to 10,755 unique places</a:t>
            </a:r>
            <a:endParaRPr lang="en-US" sz="1400" dirty="0"/>
          </a:p>
        </p:txBody>
      </p:sp>
      <p:sp>
        <p:nvSpPr>
          <p:cNvPr id="8" name="Clean card 2"/>
          <p:cNvSpPr/>
          <p:nvPr/>
        </p:nvSpPr>
        <p:spPr>
          <a:xfrm>
            <a:off x="4663440" y="1143000"/>
            <a:ext cx="4023360" cy="1600200"/>
          </a:xfrm>
          <a:prstGeom prst="roundRect">
            <a:avLst>
              <a:gd name="adj" fmla="val 4571"/>
            </a:avLst>
          </a:prstGeom>
          <a:solidFill>
            <a:schemeClr val="bg2"/>
          </a:solidFill>
          <a:ln w="12700">
            <a:solidFill>
              <a:schemeClr val="bg2"/>
            </a:solidFill>
            <a:prstDash val="solid"/>
          </a:ln>
        </p:spPr>
      </p:sp>
      <p:sp>
        <p:nvSpPr>
          <p:cNvPr id="9" name="Clean icon bg 2"/>
          <p:cNvSpPr/>
          <p:nvPr/>
        </p:nvSpPr>
        <p:spPr>
          <a:xfrm>
            <a:off x="4846320" y="1371600"/>
            <a:ext cx="594360" cy="594360"/>
          </a:xfrm>
          <a:prstGeom prst="ellipse">
            <a:avLst/>
          </a:prstGeom>
          <a:solidFill>
            <a:schemeClr val="accent1"/>
          </a:solidFill>
          <a:ln w="12700">
            <a:solidFill>
              <a:schemeClr val="accent1"/>
            </a:solidFill>
            <a:prstDash val="solid"/>
          </a:ln>
        </p:spPr>
      </p:sp>
      <p:pic>
        <p:nvPicPr>
          <p:cNvPr id="10" name="Image 1" descr="Rating 0 means none">    </p:cNvPr>
          <p:cNvPicPr>
            <a:picLocks noChangeAspect="1"/>
          </p:cNvPicPr>
          <p:nvPr/>
        </p:nvPicPr>
        <p:blipFill>
          <a:blip r:embed="rId2"/>
          <a:stretch>
            <a:fillRect/>
          </a:stretch>
        </p:blipFill>
        <p:spPr>
          <a:xfrm>
            <a:off x="5001768" y="1527048"/>
            <a:ext cx="283464" cy="283464"/>
          </a:xfrm>
          <a:prstGeom prst="rect">
            <a:avLst/>
          </a:prstGeom>
        </p:spPr>
      </p:pic>
      <p:sp>
        <p:nvSpPr>
          <p:cNvPr id="11" name="Clean head 2"/>
          <p:cNvSpPr txBox="1"/>
          <p:nvPr/>
        </p:nvSpPr>
        <p:spPr>
          <a:xfrm>
            <a:off x="5623560" y="1325880"/>
            <a:ext cx="29260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Rating 0 means none</a:t>
            </a:r>
            <a:endParaRPr lang="en-US" sz="2000" dirty="0"/>
          </a:p>
        </p:txBody>
      </p:sp>
      <p:sp>
        <p:nvSpPr>
          <p:cNvPr id="12" name="Clean text 2"/>
          <p:cNvSpPr txBox="1"/>
          <p:nvPr/>
        </p:nvSpPr>
        <p:spPr>
          <a:xfrm>
            <a:off x="5623560" y="1828800"/>
            <a:ext cx="2926080" cy="777240"/>
          </a:xfrm>
          <a:prstGeom prst="rect">
            <a:avLst/>
          </a:prstGeom>
          <a:noFill/>
          <a:ln/>
        </p:spPr>
        <p:txBody>
          <a:bodyPr wrap="square" lIns="0" tIns="0" rIns="0" bIns="0" rtlCol="0" anchor="t"/>
          <a:lstStyle/>
          <a:p>
            <a:pPr indent="0" marL="0">
              <a:buNone/>
            </a:pPr>
            <a:r>
              <a:rPr lang="en-US" sz="1400" dirty="0">
                <a:solidFill>
                  <a:schemeClr val="tx1"/>
                </a:solidFill>
              </a:rPr>
              <a:t>2,528 places (24%) have no rating and no reviews</a:t>
            </a:r>
            <a:endParaRPr lang="en-US" sz="1400" dirty="0"/>
          </a:p>
        </p:txBody>
      </p:sp>
      <p:sp>
        <p:nvSpPr>
          <p:cNvPr id="13" name="Clean card 3"/>
          <p:cNvSpPr/>
          <p:nvPr/>
        </p:nvSpPr>
        <p:spPr>
          <a:xfrm>
            <a:off x="457200" y="2926080"/>
            <a:ext cx="4023360" cy="1600200"/>
          </a:xfrm>
          <a:prstGeom prst="roundRect">
            <a:avLst>
              <a:gd name="adj" fmla="val 4571"/>
            </a:avLst>
          </a:prstGeom>
          <a:solidFill>
            <a:schemeClr val="bg2"/>
          </a:solidFill>
          <a:ln w="12700">
            <a:solidFill>
              <a:schemeClr val="bg2"/>
            </a:solidFill>
            <a:prstDash val="solid"/>
          </a:ln>
        </p:spPr>
      </p:sp>
      <p:sp>
        <p:nvSpPr>
          <p:cNvPr id="14" name="Clean icon bg 3"/>
          <p:cNvSpPr/>
          <p:nvPr/>
        </p:nvSpPr>
        <p:spPr>
          <a:xfrm>
            <a:off x="640080" y="3154680"/>
            <a:ext cx="594360" cy="594360"/>
          </a:xfrm>
          <a:prstGeom prst="ellipse">
            <a:avLst/>
          </a:prstGeom>
          <a:solidFill>
            <a:schemeClr val="accent1"/>
          </a:solidFill>
          <a:ln w="12700">
            <a:solidFill>
              <a:schemeClr val="accent1"/>
            </a:solidFill>
            <a:prstDash val="solid"/>
          </a:ln>
        </p:spPr>
      </p:sp>
      <p:pic>
        <p:nvPicPr>
          <p:cNvPr id="15" name="Image 2" descr="Affluence is sparse">    </p:cNvPr>
          <p:cNvPicPr>
            <a:picLocks noChangeAspect="1"/>
          </p:cNvPicPr>
          <p:nvPr/>
        </p:nvPicPr>
        <p:blipFill>
          <a:blip r:embed="rId3"/>
          <a:stretch>
            <a:fillRect/>
          </a:stretch>
        </p:blipFill>
        <p:spPr>
          <a:xfrm>
            <a:off x="795528" y="3310128"/>
            <a:ext cx="283464" cy="283464"/>
          </a:xfrm>
          <a:prstGeom prst="rect">
            <a:avLst/>
          </a:prstGeom>
        </p:spPr>
      </p:pic>
      <p:sp>
        <p:nvSpPr>
          <p:cNvPr id="16" name="Clean head 3"/>
          <p:cNvSpPr txBox="1"/>
          <p:nvPr/>
        </p:nvSpPr>
        <p:spPr>
          <a:xfrm>
            <a:off x="1417320" y="3108960"/>
            <a:ext cx="29260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Affluence is sparse</a:t>
            </a:r>
            <a:endParaRPr lang="en-US" sz="2000" dirty="0"/>
          </a:p>
        </p:txBody>
      </p:sp>
      <p:sp>
        <p:nvSpPr>
          <p:cNvPr id="17" name="Clean text 3"/>
          <p:cNvSpPr txBox="1"/>
          <p:nvPr/>
        </p:nvSpPr>
        <p:spPr>
          <a:xfrm>
            <a:off x="1417320" y="3611880"/>
            <a:ext cx="2926080" cy="777240"/>
          </a:xfrm>
          <a:prstGeom prst="rect">
            <a:avLst/>
          </a:prstGeom>
          <a:noFill/>
          <a:ln/>
        </p:spPr>
        <p:txBody>
          <a:bodyPr wrap="square" lIns="0" tIns="0" rIns="0" bIns="0" rtlCol="0" anchor="t"/>
          <a:lstStyle/>
          <a:p>
            <a:pPr indent="0" marL="0">
              <a:buNone/>
            </a:pPr>
            <a:r>
              <a:rPr lang="en-US" sz="1400" dirty="0">
                <a:solidFill>
                  <a:schemeClr val="tx1"/>
                </a:solidFill>
              </a:rPr>
              <a:t>90% empty, and only filled for places with 4+ reviews</a:t>
            </a:r>
            <a:endParaRPr lang="en-US" sz="1400" dirty="0"/>
          </a:p>
        </p:txBody>
      </p:sp>
      <p:sp>
        <p:nvSpPr>
          <p:cNvPr id="18" name="Clean card 4"/>
          <p:cNvSpPr/>
          <p:nvPr/>
        </p:nvSpPr>
        <p:spPr>
          <a:xfrm>
            <a:off x="4663440" y="2926080"/>
            <a:ext cx="4023360" cy="1600200"/>
          </a:xfrm>
          <a:prstGeom prst="roundRect">
            <a:avLst>
              <a:gd name="adj" fmla="val 4571"/>
            </a:avLst>
          </a:prstGeom>
          <a:solidFill>
            <a:schemeClr val="bg2"/>
          </a:solidFill>
          <a:ln w="12700">
            <a:solidFill>
              <a:schemeClr val="bg2"/>
            </a:solidFill>
            <a:prstDash val="solid"/>
          </a:ln>
        </p:spPr>
      </p:sp>
      <p:sp>
        <p:nvSpPr>
          <p:cNvPr id="19" name="Clean icon bg 4"/>
          <p:cNvSpPr/>
          <p:nvPr/>
        </p:nvSpPr>
        <p:spPr>
          <a:xfrm>
            <a:off x="4846320" y="3154680"/>
            <a:ext cx="594360" cy="594360"/>
          </a:xfrm>
          <a:prstGeom prst="ellipse">
            <a:avLst/>
          </a:prstGeom>
          <a:solidFill>
            <a:schemeClr val="accent1"/>
          </a:solidFill>
          <a:ln w="12700">
            <a:solidFill>
              <a:schemeClr val="accent1"/>
            </a:solidFill>
            <a:prstDash val="solid"/>
          </a:ln>
        </p:spPr>
      </p:sp>
      <p:pic>
        <p:nvPicPr>
          <p:cNvPr id="20" name="Image 3" descr="Not all restaurants">    </p:cNvPr>
          <p:cNvPicPr>
            <a:picLocks noChangeAspect="1"/>
          </p:cNvPicPr>
          <p:nvPr/>
        </p:nvPicPr>
        <p:blipFill>
          <a:blip r:embed="rId4"/>
          <a:stretch>
            <a:fillRect/>
          </a:stretch>
        </p:blipFill>
        <p:spPr>
          <a:xfrm>
            <a:off x="5001768" y="3310128"/>
            <a:ext cx="283464" cy="283464"/>
          </a:xfrm>
          <a:prstGeom prst="rect">
            <a:avLst/>
          </a:prstGeom>
        </p:spPr>
      </p:pic>
      <p:sp>
        <p:nvSpPr>
          <p:cNvPr id="21" name="Clean head 4"/>
          <p:cNvSpPr txBox="1"/>
          <p:nvPr/>
        </p:nvSpPr>
        <p:spPr>
          <a:xfrm>
            <a:off x="5623560" y="3108960"/>
            <a:ext cx="29260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Not all restaurants</a:t>
            </a:r>
            <a:endParaRPr lang="en-US" sz="2000" dirty="0"/>
          </a:p>
        </p:txBody>
      </p:sp>
      <p:sp>
        <p:nvSpPr>
          <p:cNvPr id="22" name="Clean text 4"/>
          <p:cNvSpPr txBox="1"/>
          <p:nvPr/>
        </p:nvSpPr>
        <p:spPr>
          <a:xfrm>
            <a:off x="5623560" y="3611880"/>
            <a:ext cx="2926080" cy="777240"/>
          </a:xfrm>
          <a:prstGeom prst="rect">
            <a:avLst/>
          </a:prstGeom>
          <a:noFill/>
          <a:ln/>
        </p:spPr>
        <p:txBody>
          <a:bodyPr wrap="square" lIns="0" tIns="0" rIns="0" bIns="0" rtlCol="0" anchor="t"/>
          <a:lstStyle/>
          <a:p>
            <a:pPr indent="0" marL="0">
              <a:buNone/>
            </a:pPr>
            <a:r>
              <a:rPr lang="en-US" sz="1400" dirty="0">
                <a:solidFill>
                  <a:schemeClr val="tx1"/>
                </a:solidFill>
              </a:rPr>
              <a:t>~3% look like shops, telecoms or schools (flagged)</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Ratings are generous, with a spike at 5.0</a:t>
            </a:r>
            <a:endParaRPr lang="en-US" sz="3200" dirty="0"/>
          </a:p>
        </p:txBody>
      </p:sp>
      <p:graphicFrame>
        <p:nvGraphicFramePr>
          <p:cNvPr id="3" name="Chart 0" descr=""/>
          <p:cNvGraphicFramePr/>
          <p:nvPr/>
        </p:nvGraphicFramePr>
        <p:xfrm>
          <a:off x="457200" y="109728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4" name="Rating avg card"/>
          <p:cNvSpPr/>
          <p:nvPr/>
        </p:nvSpPr>
        <p:spPr>
          <a:xfrm>
            <a:off x="6217920" y="1188720"/>
            <a:ext cx="2468880" cy="1325880"/>
          </a:xfrm>
          <a:prstGeom prst="roundRect">
            <a:avLst>
              <a:gd name="adj" fmla="val 5517"/>
            </a:avLst>
          </a:prstGeom>
          <a:solidFill>
            <a:schemeClr val="bg2"/>
          </a:solidFill>
          <a:ln w="12700">
            <a:solidFill>
              <a:schemeClr val="bg2"/>
            </a:solidFill>
            <a:prstDash val="solid"/>
          </a:ln>
        </p:spPr>
      </p:sp>
      <p:sp>
        <p:nvSpPr>
          <p:cNvPr id="5" name="Rating avg value"/>
          <p:cNvSpPr txBox="1"/>
          <p:nvPr/>
        </p:nvSpPr>
        <p:spPr>
          <a:xfrm>
            <a:off x="6355080" y="1298448"/>
            <a:ext cx="2194560" cy="729234"/>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4.08</a:t>
            </a:r>
            <a:endParaRPr lang="en-US" sz="3800" dirty="0"/>
          </a:p>
        </p:txBody>
      </p:sp>
      <p:sp>
        <p:nvSpPr>
          <p:cNvPr id="6" name="Rating avg label"/>
          <p:cNvSpPr txBox="1"/>
          <p:nvPr/>
        </p:nvSpPr>
        <p:spPr>
          <a:xfrm>
            <a:off x="6355080" y="2010766"/>
            <a:ext cx="2194560" cy="450799"/>
          </a:xfrm>
          <a:prstGeom prst="rect">
            <a:avLst/>
          </a:prstGeom>
          <a:noFill/>
          <a:ln/>
        </p:spPr>
        <p:txBody>
          <a:bodyPr wrap="square" lIns="0" tIns="0" rIns="0" bIns="0" rtlCol="0" anchor="t"/>
          <a:lstStyle/>
          <a:p>
            <a:pPr algn="l" indent="0" marL="0">
              <a:buNone/>
            </a:pPr>
            <a:r>
              <a:rPr lang="en-US" sz="1400" dirty="0">
                <a:solidFill>
                  <a:schemeClr val="tx1"/>
                </a:solidFill>
              </a:rPr>
              <a:t>average rating (rated places)</a:t>
            </a:r>
            <a:endParaRPr lang="en-US" sz="1400" dirty="0"/>
          </a:p>
        </p:txBody>
      </p:sp>
      <p:sp>
        <p:nvSpPr>
          <p:cNvPr id="7" name="Rating five card"/>
          <p:cNvSpPr/>
          <p:nvPr/>
        </p:nvSpPr>
        <p:spPr>
          <a:xfrm>
            <a:off x="6217920" y="2697480"/>
            <a:ext cx="2468880" cy="1325880"/>
          </a:xfrm>
          <a:prstGeom prst="roundRect">
            <a:avLst>
              <a:gd name="adj" fmla="val 5517"/>
            </a:avLst>
          </a:prstGeom>
          <a:solidFill>
            <a:schemeClr val="bg2"/>
          </a:solidFill>
          <a:ln w="12700">
            <a:solidFill>
              <a:schemeClr val="bg2"/>
            </a:solidFill>
            <a:prstDash val="solid"/>
          </a:ln>
        </p:spPr>
      </p:sp>
      <p:sp>
        <p:nvSpPr>
          <p:cNvPr id="8" name="Rating five value"/>
          <p:cNvSpPr txBox="1"/>
          <p:nvPr/>
        </p:nvSpPr>
        <p:spPr>
          <a:xfrm>
            <a:off x="6355080" y="2807208"/>
            <a:ext cx="2194560" cy="729234"/>
          </a:xfrm>
          <a:prstGeom prst="rect">
            <a:avLst/>
          </a:prstGeom>
          <a:noFill/>
          <a:ln/>
        </p:spPr>
        <p:txBody>
          <a:bodyPr wrap="square" lIns="0" tIns="0" rIns="0" bIns="0" rtlCol="0" anchor="ctr"/>
          <a:lstStyle/>
          <a:p>
            <a:pPr algn="l" indent="0" marL="0">
              <a:buNone/>
            </a:pPr>
            <a:r>
              <a:rPr lang="en-US" sz="3800" b="1" dirty="0">
                <a:solidFill>
                  <a:schemeClr val="accent2"/>
                </a:solidFill>
                <a:latin typeface="Cambria" pitchFamily="34" charset="0"/>
                <a:ea typeface="Cambria" pitchFamily="34" charset="-122"/>
                <a:cs typeface="Cambria" pitchFamily="34" charset="-120"/>
              </a:rPr>
              <a:t>1,778</a:t>
            </a:r>
            <a:endParaRPr lang="en-US" sz="3800" dirty="0"/>
          </a:p>
        </p:txBody>
      </p:sp>
      <p:sp>
        <p:nvSpPr>
          <p:cNvPr id="9" name="Rating five label"/>
          <p:cNvSpPr txBox="1"/>
          <p:nvPr/>
        </p:nvSpPr>
        <p:spPr>
          <a:xfrm>
            <a:off x="6355080" y="3519526"/>
            <a:ext cx="2194560" cy="450799"/>
          </a:xfrm>
          <a:prstGeom prst="rect">
            <a:avLst/>
          </a:prstGeom>
          <a:noFill/>
          <a:ln/>
        </p:spPr>
        <p:txBody>
          <a:bodyPr wrap="square" lIns="0" tIns="0" rIns="0" bIns="0" rtlCol="0" anchor="t"/>
          <a:lstStyle/>
          <a:p>
            <a:pPr algn="l" indent="0" marL="0">
              <a:buNone/>
            </a:pPr>
            <a:r>
              <a:rPr lang="en-US" sz="1400" dirty="0">
                <a:solidFill>
                  <a:schemeClr val="tx1"/>
                </a:solidFill>
              </a:rPr>
              <a:t>perfect 5.0s: the most common rating</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 perfect 5.0 usually means 1-2 reviews</a:t>
            </a:r>
            <a:endParaRPr lang="en-US" sz="3200" dirty="0"/>
          </a:p>
        </p:txBody>
      </p:sp>
      <p:graphicFrame>
        <p:nvGraphicFramePr>
          <p:cNvPr id="3" name="Chart 0" descr=""/>
          <p:cNvGraphicFramePr/>
          <p:nvPr/>
        </p:nvGraphicFramePr>
        <p:xfrm>
          <a:off x="457200" y="109728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4" name="Five one card"/>
          <p:cNvSpPr/>
          <p:nvPr/>
        </p:nvSpPr>
        <p:spPr>
          <a:xfrm>
            <a:off x="6217920" y="1188720"/>
            <a:ext cx="2468880" cy="1325880"/>
          </a:xfrm>
          <a:prstGeom prst="roundRect">
            <a:avLst>
              <a:gd name="adj" fmla="val 5517"/>
            </a:avLst>
          </a:prstGeom>
          <a:solidFill>
            <a:schemeClr val="bg2"/>
          </a:solidFill>
          <a:ln w="12700">
            <a:solidFill>
              <a:schemeClr val="bg2"/>
            </a:solidFill>
            <a:prstDash val="solid"/>
          </a:ln>
        </p:spPr>
      </p:sp>
      <p:sp>
        <p:nvSpPr>
          <p:cNvPr id="5" name="Five one value"/>
          <p:cNvSpPr txBox="1"/>
          <p:nvPr/>
        </p:nvSpPr>
        <p:spPr>
          <a:xfrm>
            <a:off x="6355080" y="1298448"/>
            <a:ext cx="2194560" cy="729234"/>
          </a:xfrm>
          <a:prstGeom prst="rect">
            <a:avLst/>
          </a:prstGeom>
          <a:noFill/>
          <a:ln/>
        </p:spPr>
        <p:txBody>
          <a:bodyPr wrap="square" lIns="0" tIns="0" rIns="0" bIns="0" rtlCol="0" anchor="ctr"/>
          <a:lstStyle/>
          <a:p>
            <a:pPr algn="l" indent="0" marL="0">
              <a:buNone/>
            </a:pPr>
            <a:r>
              <a:rPr lang="en-US" sz="3800" b="1" dirty="0">
                <a:solidFill>
                  <a:schemeClr val="accent2"/>
                </a:solidFill>
                <a:latin typeface="Cambria" pitchFamily="34" charset="0"/>
                <a:ea typeface="Cambria" pitchFamily="34" charset="-122"/>
                <a:cs typeface="Cambria" pitchFamily="34" charset="-120"/>
              </a:rPr>
              <a:t>61%</a:t>
            </a:r>
            <a:endParaRPr lang="en-US" sz="3800" dirty="0"/>
          </a:p>
        </p:txBody>
      </p:sp>
      <p:sp>
        <p:nvSpPr>
          <p:cNvPr id="6" name="Five one label"/>
          <p:cNvSpPr txBox="1"/>
          <p:nvPr/>
        </p:nvSpPr>
        <p:spPr>
          <a:xfrm>
            <a:off x="6355080" y="2010766"/>
            <a:ext cx="2194560" cy="450799"/>
          </a:xfrm>
          <a:prstGeom prst="rect">
            <a:avLst/>
          </a:prstGeom>
          <a:noFill/>
          <a:ln/>
        </p:spPr>
        <p:txBody>
          <a:bodyPr wrap="square" lIns="0" tIns="0" rIns="0" bIns="0" rtlCol="0" anchor="t"/>
          <a:lstStyle/>
          <a:p>
            <a:pPr algn="l" indent="0" marL="0">
              <a:buNone/>
            </a:pPr>
            <a:r>
              <a:rPr lang="en-US" sz="1400" dirty="0">
                <a:solidFill>
                  <a:schemeClr val="tx1"/>
                </a:solidFill>
              </a:rPr>
              <a:t>of 1-review places score 5.0</a:t>
            </a:r>
            <a:endParaRPr lang="en-US" sz="1400" dirty="0"/>
          </a:p>
        </p:txBody>
      </p:sp>
      <p:sp>
        <p:nvSpPr>
          <p:cNvPr id="7" name="Five fifty card"/>
          <p:cNvSpPr/>
          <p:nvPr/>
        </p:nvSpPr>
        <p:spPr>
          <a:xfrm>
            <a:off x="6217920" y="2697480"/>
            <a:ext cx="2468880" cy="1325880"/>
          </a:xfrm>
          <a:prstGeom prst="roundRect">
            <a:avLst>
              <a:gd name="adj" fmla="val 5517"/>
            </a:avLst>
          </a:prstGeom>
          <a:solidFill>
            <a:schemeClr val="bg2"/>
          </a:solidFill>
          <a:ln w="12700">
            <a:solidFill>
              <a:schemeClr val="bg2"/>
            </a:solidFill>
            <a:prstDash val="solid"/>
          </a:ln>
        </p:spPr>
      </p:sp>
      <p:sp>
        <p:nvSpPr>
          <p:cNvPr id="8" name="Five fifty value"/>
          <p:cNvSpPr txBox="1"/>
          <p:nvPr/>
        </p:nvSpPr>
        <p:spPr>
          <a:xfrm>
            <a:off x="6355080" y="2807208"/>
            <a:ext cx="2194560" cy="729234"/>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0</a:t>
            </a:r>
            <a:endParaRPr lang="en-US" sz="3800" dirty="0"/>
          </a:p>
        </p:txBody>
      </p:sp>
      <p:sp>
        <p:nvSpPr>
          <p:cNvPr id="9" name="Five fifty label"/>
          <p:cNvSpPr txBox="1"/>
          <p:nvPr/>
        </p:nvSpPr>
        <p:spPr>
          <a:xfrm>
            <a:off x="6355080" y="3519526"/>
            <a:ext cx="2194560" cy="450799"/>
          </a:xfrm>
          <a:prstGeom prst="rect">
            <a:avLst/>
          </a:prstGeom>
          <a:noFill/>
          <a:ln/>
        </p:spPr>
        <p:txBody>
          <a:bodyPr wrap="square" lIns="0" tIns="0" rIns="0" bIns="0" rtlCol="0" anchor="t"/>
          <a:lstStyle/>
          <a:p>
            <a:pPr algn="l" indent="0" marL="0">
              <a:buNone/>
            </a:pPr>
            <a:r>
              <a:rPr lang="en-US" sz="1400" dirty="0">
                <a:solidFill>
                  <a:schemeClr val="tx1"/>
                </a:solidFill>
              </a:rPr>
              <a:t>perfect 5.0s among places with 50+ reviews</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 few places get most of the reviews</a:t>
            </a:r>
            <a:endParaRPr lang="en-US" sz="3200" dirty="0"/>
          </a:p>
        </p:txBody>
      </p:sp>
      <p:sp>
        <p:nvSpPr>
          <p:cNvPr id="3" name="Conc top1 card"/>
          <p:cNvSpPr/>
          <p:nvPr/>
        </p:nvSpPr>
        <p:spPr>
          <a:xfrm>
            <a:off x="457200" y="1143000"/>
            <a:ext cx="2743200" cy="1097280"/>
          </a:xfrm>
          <a:prstGeom prst="roundRect">
            <a:avLst>
              <a:gd name="adj" fmla="val 6667"/>
            </a:avLst>
          </a:prstGeom>
          <a:solidFill>
            <a:schemeClr val="bg2"/>
          </a:solidFill>
          <a:ln w="12700">
            <a:solidFill>
              <a:schemeClr val="bg2"/>
            </a:solidFill>
            <a:prstDash val="solid"/>
          </a:ln>
        </p:spPr>
      </p:sp>
      <p:sp>
        <p:nvSpPr>
          <p:cNvPr id="4" name="Conc top1 value"/>
          <p:cNvSpPr txBox="1"/>
          <p:nvPr/>
        </p:nvSpPr>
        <p:spPr>
          <a:xfrm>
            <a:off x="594360" y="1252728"/>
            <a:ext cx="2468880" cy="603504"/>
          </a:xfrm>
          <a:prstGeom prst="rect">
            <a:avLst/>
          </a:prstGeom>
          <a:noFill/>
          <a:ln/>
        </p:spPr>
        <p:txBody>
          <a:bodyPr wrap="square" lIns="0" tIns="0" rIns="0" bIns="0" rtlCol="0" anchor="ctr"/>
          <a:lstStyle/>
          <a:p>
            <a:pPr algn="l" indent="0" marL="0">
              <a:buNone/>
            </a:pPr>
            <a:r>
              <a:rPr lang="en-US" sz="3800" b="1" dirty="0">
                <a:solidFill>
                  <a:schemeClr val="accent2"/>
                </a:solidFill>
                <a:latin typeface="Cambria" pitchFamily="34" charset="0"/>
                <a:ea typeface="Cambria" pitchFamily="34" charset="-122"/>
                <a:cs typeface="Cambria" pitchFamily="34" charset="-120"/>
              </a:rPr>
              <a:t>36%</a:t>
            </a:r>
            <a:endParaRPr lang="en-US" sz="3800" dirty="0"/>
          </a:p>
        </p:txBody>
      </p:sp>
      <p:sp>
        <p:nvSpPr>
          <p:cNvPr id="5" name="Conc top1 label"/>
          <p:cNvSpPr txBox="1"/>
          <p:nvPr/>
        </p:nvSpPr>
        <p:spPr>
          <a:xfrm>
            <a:off x="594360" y="1823314"/>
            <a:ext cx="2468880" cy="373075"/>
          </a:xfrm>
          <a:prstGeom prst="rect">
            <a:avLst/>
          </a:prstGeom>
          <a:noFill/>
          <a:ln/>
        </p:spPr>
        <p:txBody>
          <a:bodyPr wrap="square" lIns="0" tIns="0" rIns="0" bIns="0" rtlCol="0" anchor="t"/>
          <a:lstStyle/>
          <a:p>
            <a:pPr algn="l" indent="0" marL="0">
              <a:buNone/>
            </a:pPr>
            <a:r>
              <a:rPr lang="en-US" sz="1400" dirty="0">
                <a:solidFill>
                  <a:schemeClr val="tx1"/>
                </a:solidFill>
              </a:rPr>
              <a:t>of reviews: top 1% of places</a:t>
            </a:r>
            <a:endParaRPr lang="en-US" sz="1400" dirty="0"/>
          </a:p>
        </p:txBody>
      </p:sp>
      <p:sp>
        <p:nvSpPr>
          <p:cNvPr id="6" name="Conc top10 card"/>
          <p:cNvSpPr/>
          <p:nvPr/>
        </p:nvSpPr>
        <p:spPr>
          <a:xfrm>
            <a:off x="457200" y="2377440"/>
            <a:ext cx="2743200" cy="1097280"/>
          </a:xfrm>
          <a:prstGeom prst="roundRect">
            <a:avLst>
              <a:gd name="adj" fmla="val 6667"/>
            </a:avLst>
          </a:prstGeom>
          <a:solidFill>
            <a:schemeClr val="bg2"/>
          </a:solidFill>
          <a:ln w="12700">
            <a:solidFill>
              <a:schemeClr val="bg2"/>
            </a:solidFill>
            <a:prstDash val="solid"/>
          </a:ln>
        </p:spPr>
      </p:sp>
      <p:sp>
        <p:nvSpPr>
          <p:cNvPr id="7" name="Conc top10 value"/>
          <p:cNvSpPr txBox="1"/>
          <p:nvPr/>
        </p:nvSpPr>
        <p:spPr>
          <a:xfrm>
            <a:off x="594360" y="2487168"/>
            <a:ext cx="2468880" cy="603504"/>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83%</a:t>
            </a:r>
            <a:endParaRPr lang="en-US" sz="3800" dirty="0"/>
          </a:p>
        </p:txBody>
      </p:sp>
      <p:sp>
        <p:nvSpPr>
          <p:cNvPr id="8" name="Conc top10 label"/>
          <p:cNvSpPr txBox="1"/>
          <p:nvPr/>
        </p:nvSpPr>
        <p:spPr>
          <a:xfrm>
            <a:off x="594360" y="3057754"/>
            <a:ext cx="2468880" cy="373075"/>
          </a:xfrm>
          <a:prstGeom prst="rect">
            <a:avLst/>
          </a:prstGeom>
          <a:noFill/>
          <a:ln/>
        </p:spPr>
        <p:txBody>
          <a:bodyPr wrap="square" lIns="0" tIns="0" rIns="0" bIns="0" rtlCol="0" anchor="t"/>
          <a:lstStyle/>
          <a:p>
            <a:pPr algn="l" indent="0" marL="0">
              <a:buNone/>
            </a:pPr>
            <a:r>
              <a:rPr lang="en-US" sz="1400" dirty="0">
                <a:solidFill>
                  <a:schemeClr val="tx1"/>
                </a:solidFill>
              </a:rPr>
              <a:t>of reviews: top 10% of places</a:t>
            </a:r>
            <a:endParaRPr lang="en-US" sz="1400" dirty="0"/>
          </a:p>
        </p:txBody>
      </p:sp>
      <p:sp>
        <p:nvSpPr>
          <p:cNvPr id="9" name="Conc median card"/>
          <p:cNvSpPr/>
          <p:nvPr/>
        </p:nvSpPr>
        <p:spPr>
          <a:xfrm>
            <a:off x="457200" y="3611880"/>
            <a:ext cx="2743200" cy="1097280"/>
          </a:xfrm>
          <a:prstGeom prst="roundRect">
            <a:avLst>
              <a:gd name="adj" fmla="val 6667"/>
            </a:avLst>
          </a:prstGeom>
          <a:solidFill>
            <a:schemeClr val="bg2"/>
          </a:solidFill>
          <a:ln w="12700">
            <a:solidFill>
              <a:schemeClr val="bg2"/>
            </a:solidFill>
            <a:prstDash val="solid"/>
          </a:ln>
        </p:spPr>
      </p:sp>
      <p:sp>
        <p:nvSpPr>
          <p:cNvPr id="10" name="Conc median value"/>
          <p:cNvSpPr txBox="1"/>
          <p:nvPr/>
        </p:nvSpPr>
        <p:spPr>
          <a:xfrm>
            <a:off x="594360" y="3721608"/>
            <a:ext cx="2468880" cy="603504"/>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6</a:t>
            </a:r>
            <a:endParaRPr lang="en-US" sz="3800" dirty="0"/>
          </a:p>
        </p:txBody>
      </p:sp>
      <p:sp>
        <p:nvSpPr>
          <p:cNvPr id="11" name="Conc median label"/>
          <p:cNvSpPr txBox="1"/>
          <p:nvPr/>
        </p:nvSpPr>
        <p:spPr>
          <a:xfrm>
            <a:off x="594360" y="4292194"/>
            <a:ext cx="2468880" cy="373075"/>
          </a:xfrm>
          <a:prstGeom prst="rect">
            <a:avLst/>
          </a:prstGeom>
          <a:noFill/>
          <a:ln/>
        </p:spPr>
        <p:txBody>
          <a:bodyPr wrap="square" lIns="0" tIns="0" rIns="0" bIns="0" rtlCol="0" anchor="t"/>
          <a:lstStyle/>
          <a:p>
            <a:pPr algn="l" indent="0" marL="0">
              <a:buNone/>
            </a:pPr>
            <a:r>
              <a:rPr lang="en-US" sz="1400" dirty="0">
                <a:solidFill>
                  <a:schemeClr val="tx1"/>
                </a:solidFill>
              </a:rPr>
              <a:t>reviews at the median place</a:t>
            </a:r>
            <a:endParaRPr lang="en-US" sz="1400" dirty="0"/>
          </a:p>
        </p:txBody>
      </p:sp>
      <p:graphicFrame>
        <p:nvGraphicFramePr>
          <p:cNvPr id="12" name="Chart 0" descr=""/>
          <p:cNvGraphicFramePr/>
          <p:nvPr/>
        </p:nvGraphicFramePr>
        <p:xfrm>
          <a:off x="3474720" y="1097280"/>
          <a:ext cx="521208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Affluence only exists for popular places</a:t>
            </a:r>
            <a:endParaRPr lang="en-US" sz="3200" dirty="0"/>
          </a:p>
        </p:txBody>
      </p:sp>
      <p:graphicFrame>
        <p:nvGraphicFramePr>
          <p:cNvPr id="3" name="Chart 0" descr=""/>
          <p:cNvGraphicFramePr/>
          <p:nvPr/>
        </p:nvGraphicFramePr>
        <p:xfrm>
          <a:off x="457200" y="109728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4" name="Aff share card"/>
          <p:cNvSpPr/>
          <p:nvPr/>
        </p:nvSpPr>
        <p:spPr>
          <a:xfrm>
            <a:off x="6217920" y="1188720"/>
            <a:ext cx="2468880" cy="1325880"/>
          </a:xfrm>
          <a:prstGeom prst="roundRect">
            <a:avLst>
              <a:gd name="adj" fmla="val 5517"/>
            </a:avLst>
          </a:prstGeom>
          <a:solidFill>
            <a:schemeClr val="bg2"/>
          </a:solidFill>
          <a:ln w="12700">
            <a:solidFill>
              <a:schemeClr val="bg2"/>
            </a:solidFill>
            <a:prstDash val="solid"/>
          </a:ln>
        </p:spPr>
      </p:sp>
      <p:sp>
        <p:nvSpPr>
          <p:cNvPr id="5" name="Aff share value"/>
          <p:cNvSpPr txBox="1"/>
          <p:nvPr/>
        </p:nvSpPr>
        <p:spPr>
          <a:xfrm>
            <a:off x="6355080" y="1298448"/>
            <a:ext cx="2194560" cy="729234"/>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10%</a:t>
            </a:r>
            <a:endParaRPr lang="en-US" sz="3800" dirty="0"/>
          </a:p>
        </p:txBody>
      </p:sp>
      <p:sp>
        <p:nvSpPr>
          <p:cNvPr id="6" name="Aff share label"/>
          <p:cNvSpPr txBox="1"/>
          <p:nvPr/>
        </p:nvSpPr>
        <p:spPr>
          <a:xfrm>
            <a:off x="6355080" y="2010766"/>
            <a:ext cx="2194560" cy="450799"/>
          </a:xfrm>
          <a:prstGeom prst="rect">
            <a:avLst/>
          </a:prstGeom>
          <a:noFill/>
          <a:ln/>
        </p:spPr>
        <p:txBody>
          <a:bodyPr wrap="square" lIns="0" tIns="0" rIns="0" bIns="0" rtlCol="0" anchor="t"/>
          <a:lstStyle/>
          <a:p>
            <a:pPr algn="l" indent="0" marL="0">
              <a:buNone/>
            </a:pPr>
            <a:r>
              <a:rPr lang="en-US" sz="1400" dirty="0">
                <a:solidFill>
                  <a:schemeClr val="tx1"/>
                </a:solidFill>
              </a:rPr>
              <a:t>of all places have affluence</a:t>
            </a:r>
            <a:endParaRPr lang="en-US" sz="1400" dirty="0"/>
          </a:p>
        </p:txBody>
      </p:sp>
      <p:sp>
        <p:nvSpPr>
          <p:cNvPr id="7" name="Aff lvl2 card"/>
          <p:cNvSpPr/>
          <p:nvPr/>
        </p:nvSpPr>
        <p:spPr>
          <a:xfrm>
            <a:off x="6217920" y="2697480"/>
            <a:ext cx="2468880" cy="1325880"/>
          </a:xfrm>
          <a:prstGeom prst="roundRect">
            <a:avLst>
              <a:gd name="adj" fmla="val 5517"/>
            </a:avLst>
          </a:prstGeom>
          <a:solidFill>
            <a:schemeClr val="bg2"/>
          </a:solidFill>
          <a:ln w="12700">
            <a:solidFill>
              <a:schemeClr val="bg2"/>
            </a:solidFill>
            <a:prstDash val="solid"/>
          </a:ln>
        </p:spPr>
      </p:sp>
      <p:sp>
        <p:nvSpPr>
          <p:cNvPr id="8" name="Aff lvl2 value"/>
          <p:cNvSpPr txBox="1"/>
          <p:nvPr/>
        </p:nvSpPr>
        <p:spPr>
          <a:xfrm>
            <a:off x="6355080" y="2807208"/>
            <a:ext cx="2194560" cy="729234"/>
          </a:xfrm>
          <a:prstGeom prst="rect">
            <a:avLst/>
          </a:prstGeom>
          <a:noFill/>
          <a:ln/>
        </p:spPr>
        <p:txBody>
          <a:bodyPr wrap="square" lIns="0" tIns="0" rIns="0" bIns="0" rtlCol="0" anchor="ctr"/>
          <a:lstStyle/>
          <a:p>
            <a:pPr algn="l" indent="0" marL="0">
              <a:buNone/>
            </a:pPr>
            <a:r>
              <a:rPr lang="en-US" sz="3800" b="1" dirty="0">
                <a:solidFill>
                  <a:schemeClr val="accent2"/>
                </a:solidFill>
                <a:latin typeface="Cambria" pitchFamily="34" charset="0"/>
                <a:ea typeface="Cambria" pitchFamily="34" charset="-122"/>
                <a:cs typeface="Cambria" pitchFamily="34" charset="-120"/>
              </a:rPr>
              <a:t>66%</a:t>
            </a:r>
            <a:endParaRPr lang="en-US" sz="3800" dirty="0"/>
          </a:p>
        </p:txBody>
      </p:sp>
      <p:sp>
        <p:nvSpPr>
          <p:cNvPr id="9" name="Aff lvl2 label"/>
          <p:cNvSpPr txBox="1"/>
          <p:nvPr/>
        </p:nvSpPr>
        <p:spPr>
          <a:xfrm>
            <a:off x="6355080" y="3519526"/>
            <a:ext cx="2194560" cy="450799"/>
          </a:xfrm>
          <a:prstGeom prst="rect">
            <a:avLst/>
          </a:prstGeom>
          <a:noFill/>
          <a:ln/>
        </p:spPr>
        <p:txBody>
          <a:bodyPr wrap="square" lIns="0" tIns="0" rIns="0" bIns="0" rtlCol="0" anchor="t"/>
          <a:lstStyle/>
          <a:p>
            <a:pPr algn="l" indent="0" marL="0">
              <a:buNone/>
            </a:pPr>
            <a:r>
              <a:rPr lang="en-US" sz="1400" dirty="0">
                <a:solidFill>
                  <a:schemeClr val="tx1"/>
                </a:solidFill>
              </a:rPr>
              <a:t>of labelled places are level 2</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Dhaka dominates the attention</a:t>
            </a:r>
            <a:endParaRPr lang="en-US" sz="3200" dirty="0"/>
          </a:p>
        </p:txBody>
      </p:sp>
      <p:pic>
        <p:nvPicPr>
          <p:cNvPr id="3" name="Image 0" descr="Hex density map of restaurant locations across Bangladesh">    </p:cNvPr>
          <p:cNvPicPr>
            <a:picLocks noChangeAspect="1"/>
          </p:cNvPicPr>
          <p:nvPr/>
        </p:nvPicPr>
        <p:blipFill>
          <a:blip r:embed="rId1"/>
          <a:srcRect l="0" r="0" t="0" b="0"/>
          <a:stretch/>
        </p:blipFill>
        <p:spPr>
          <a:xfrm>
            <a:off x="365760" y="1097280"/>
            <a:ext cx="3657600" cy="3520440"/>
          </a:xfrm>
          <a:prstGeom prst="rect">
            <a:avLst/>
          </a:prstGeom>
        </p:spPr>
      </p:pic>
      <p:graphicFrame>
        <p:nvGraphicFramePr>
          <p:cNvPr id="4" name="Chart 0" descr=""/>
          <p:cNvGraphicFramePr/>
          <p:nvPr/>
        </p:nvGraphicFramePr>
        <p:xfrm>
          <a:off x="4114800" y="1051560"/>
          <a:ext cx="4572000" cy="2331720"/>
        </p:xfrm>
        <a:graphic xmlns:a="http://schemas.openxmlformats.org/drawingml/2006/main">
          <a:graphicData uri="http://schemas.openxmlformats.org/drawingml/2006/chart">
            <c:chart xmlns:c="http://schemas.openxmlformats.org/drawingml/2006/chart" r:id="rId2"/>
          </a:graphicData>
        </a:graphic>
      </p:graphicFrame>
      <p:sp>
        <p:nvSpPr>
          <p:cNvPr id="5" name="Geo places card"/>
          <p:cNvSpPr/>
          <p:nvPr/>
        </p:nvSpPr>
        <p:spPr>
          <a:xfrm>
            <a:off x="4114800" y="3520440"/>
            <a:ext cx="2194560" cy="1097280"/>
          </a:xfrm>
          <a:prstGeom prst="roundRect">
            <a:avLst>
              <a:gd name="adj" fmla="val 6667"/>
            </a:avLst>
          </a:prstGeom>
          <a:solidFill>
            <a:schemeClr val="bg2"/>
          </a:solidFill>
          <a:ln w="12700">
            <a:solidFill>
              <a:schemeClr val="bg2"/>
            </a:solidFill>
            <a:prstDash val="solid"/>
          </a:ln>
        </p:spPr>
      </p:sp>
      <p:sp>
        <p:nvSpPr>
          <p:cNvPr id="6" name="Geo places value"/>
          <p:cNvSpPr txBox="1"/>
          <p:nvPr/>
        </p:nvSpPr>
        <p:spPr>
          <a:xfrm>
            <a:off x="4251960" y="3630168"/>
            <a:ext cx="1920240" cy="603504"/>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12%</a:t>
            </a:r>
            <a:endParaRPr lang="en-US" sz="3800" dirty="0"/>
          </a:p>
        </p:txBody>
      </p:sp>
      <p:sp>
        <p:nvSpPr>
          <p:cNvPr id="7" name="Geo places label"/>
          <p:cNvSpPr txBox="1"/>
          <p:nvPr/>
        </p:nvSpPr>
        <p:spPr>
          <a:xfrm>
            <a:off x="4251960" y="4200754"/>
            <a:ext cx="1920240" cy="373075"/>
          </a:xfrm>
          <a:prstGeom prst="rect">
            <a:avLst/>
          </a:prstGeom>
          <a:noFill/>
          <a:ln/>
        </p:spPr>
        <p:txBody>
          <a:bodyPr wrap="square" lIns="0" tIns="0" rIns="0" bIns="0" rtlCol="0" anchor="t"/>
          <a:lstStyle/>
          <a:p>
            <a:pPr algn="l" indent="0" marL="0">
              <a:buNone/>
            </a:pPr>
            <a:r>
              <a:rPr lang="en-US" sz="1400" dirty="0">
                <a:solidFill>
                  <a:schemeClr val="tx1"/>
                </a:solidFill>
              </a:rPr>
              <a:t>of places in Greater Dhaka</a:t>
            </a:r>
            <a:endParaRPr lang="en-US" sz="1400" dirty="0"/>
          </a:p>
        </p:txBody>
      </p:sp>
      <p:sp>
        <p:nvSpPr>
          <p:cNvPr id="8" name="Geo reviews card"/>
          <p:cNvSpPr/>
          <p:nvPr/>
        </p:nvSpPr>
        <p:spPr>
          <a:xfrm>
            <a:off x="6492240" y="3520440"/>
            <a:ext cx="2194560" cy="1097280"/>
          </a:xfrm>
          <a:prstGeom prst="roundRect">
            <a:avLst>
              <a:gd name="adj" fmla="val 6667"/>
            </a:avLst>
          </a:prstGeom>
          <a:solidFill>
            <a:schemeClr val="bg2"/>
          </a:solidFill>
          <a:ln w="12700">
            <a:solidFill>
              <a:schemeClr val="bg2"/>
            </a:solidFill>
            <a:prstDash val="solid"/>
          </a:ln>
        </p:spPr>
      </p:sp>
      <p:sp>
        <p:nvSpPr>
          <p:cNvPr id="9" name="Geo reviews value"/>
          <p:cNvSpPr txBox="1"/>
          <p:nvPr/>
        </p:nvSpPr>
        <p:spPr>
          <a:xfrm>
            <a:off x="6629400" y="3630168"/>
            <a:ext cx="1920240" cy="603504"/>
          </a:xfrm>
          <a:prstGeom prst="rect">
            <a:avLst/>
          </a:prstGeom>
          <a:noFill/>
          <a:ln/>
        </p:spPr>
        <p:txBody>
          <a:bodyPr wrap="square" lIns="0" tIns="0" rIns="0" bIns="0" rtlCol="0" anchor="ctr"/>
          <a:lstStyle/>
          <a:p>
            <a:pPr algn="l" indent="0" marL="0">
              <a:buNone/>
            </a:pPr>
            <a:r>
              <a:rPr lang="en-US" sz="3800" b="1" dirty="0">
                <a:solidFill>
                  <a:schemeClr val="accent2"/>
                </a:solidFill>
                <a:latin typeface="Cambria" pitchFamily="34" charset="0"/>
                <a:ea typeface="Cambria" pitchFamily="34" charset="-122"/>
                <a:cs typeface="Cambria" pitchFamily="34" charset="-120"/>
              </a:rPr>
              <a:t>51%</a:t>
            </a:r>
            <a:endParaRPr lang="en-US" sz="3800" dirty="0"/>
          </a:p>
        </p:txBody>
      </p:sp>
      <p:sp>
        <p:nvSpPr>
          <p:cNvPr id="10" name="Geo reviews label"/>
          <p:cNvSpPr txBox="1"/>
          <p:nvPr/>
        </p:nvSpPr>
        <p:spPr>
          <a:xfrm>
            <a:off x="6629400" y="4200754"/>
            <a:ext cx="1920240" cy="373075"/>
          </a:xfrm>
          <a:prstGeom prst="rect">
            <a:avLst/>
          </a:prstGeom>
          <a:noFill/>
          <a:ln/>
        </p:spPr>
        <p:txBody>
          <a:bodyPr wrap="square" lIns="0" tIns="0" rIns="0" bIns="0" rtlCol="0" anchor="t"/>
          <a:lstStyle/>
          <a:p>
            <a:pPr algn="l" indent="0" marL="0">
              <a:buNone/>
            </a:pPr>
            <a:r>
              <a:rPr lang="en-US" sz="1400" dirty="0">
                <a:solidFill>
                  <a:schemeClr val="tx1"/>
                </a:solidFill>
              </a:rPr>
              <a:t>of all reviews</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is in a name</a:t>
            </a:r>
            <a:endParaRPr lang="en-US" sz="3200" dirty="0"/>
          </a:p>
        </p:txBody>
      </p:sp>
      <p:graphicFrame>
        <p:nvGraphicFramePr>
          <p:cNvPr id="3" name="Chart 0" descr=""/>
          <p:cNvGraphicFramePr/>
          <p:nvPr/>
        </p:nvGraphicFramePr>
        <p:xfrm>
          <a:off x="457200" y="1097280"/>
          <a:ext cx="5303520" cy="3657600"/>
        </p:xfrm>
        <a:graphic xmlns:a="http://schemas.openxmlformats.org/drawingml/2006/main">
          <a:graphicData uri="http://schemas.openxmlformats.org/drawingml/2006/chart">
            <c:chart xmlns:c="http://schemas.openxmlformats.org/drawingml/2006/chart" r:id="rId1"/>
          </a:graphicData>
        </a:graphic>
      </p:graphicFrame>
      <p:sp>
        <p:nvSpPr>
          <p:cNvPr id="4" name="Name bengali card"/>
          <p:cNvSpPr/>
          <p:nvPr/>
        </p:nvSpPr>
        <p:spPr>
          <a:xfrm>
            <a:off x="6035040" y="1188720"/>
            <a:ext cx="2651760" cy="1325880"/>
          </a:xfrm>
          <a:prstGeom prst="roundRect">
            <a:avLst>
              <a:gd name="adj" fmla="val 5517"/>
            </a:avLst>
          </a:prstGeom>
          <a:solidFill>
            <a:schemeClr val="bg2"/>
          </a:solidFill>
          <a:ln w="12700">
            <a:solidFill>
              <a:schemeClr val="bg2"/>
            </a:solidFill>
            <a:prstDash val="solid"/>
          </a:ln>
        </p:spPr>
      </p:sp>
      <p:sp>
        <p:nvSpPr>
          <p:cNvPr id="5" name="Name bengali value"/>
          <p:cNvSpPr txBox="1"/>
          <p:nvPr/>
        </p:nvSpPr>
        <p:spPr>
          <a:xfrm>
            <a:off x="6172200" y="1298448"/>
            <a:ext cx="2377440" cy="729234"/>
          </a:xfrm>
          <a:prstGeom prst="rect">
            <a:avLst/>
          </a:prstGeom>
          <a:noFill/>
          <a:ln/>
        </p:spPr>
        <p:txBody>
          <a:bodyPr wrap="square" lIns="0" tIns="0" rIns="0" bIns="0" rtlCol="0" anchor="ctr"/>
          <a:lstStyle/>
          <a:p>
            <a:pPr algn="l" indent="0" marL="0">
              <a:buNone/>
            </a:pPr>
            <a:r>
              <a:rPr lang="en-US" sz="3800" b="1" dirty="0">
                <a:solidFill>
                  <a:schemeClr val="accent1"/>
                </a:solidFill>
                <a:latin typeface="Cambria" pitchFamily="34" charset="0"/>
                <a:ea typeface="Cambria" pitchFamily="34" charset="-122"/>
                <a:cs typeface="Cambria" pitchFamily="34" charset="-120"/>
              </a:rPr>
              <a:t>32%</a:t>
            </a:r>
            <a:endParaRPr lang="en-US" sz="3800" dirty="0"/>
          </a:p>
        </p:txBody>
      </p:sp>
      <p:sp>
        <p:nvSpPr>
          <p:cNvPr id="6" name="Name bengali label"/>
          <p:cNvSpPr txBox="1"/>
          <p:nvPr/>
        </p:nvSpPr>
        <p:spPr>
          <a:xfrm>
            <a:off x="6172200" y="2010766"/>
            <a:ext cx="2377440" cy="450799"/>
          </a:xfrm>
          <a:prstGeom prst="rect">
            <a:avLst/>
          </a:prstGeom>
          <a:noFill/>
          <a:ln/>
        </p:spPr>
        <p:txBody>
          <a:bodyPr wrap="square" lIns="0" tIns="0" rIns="0" bIns="0" rtlCol="0" anchor="t"/>
          <a:lstStyle/>
          <a:p>
            <a:pPr algn="l" indent="0" marL="0">
              <a:buNone/>
            </a:pPr>
            <a:r>
              <a:rPr lang="en-US" sz="1400" dirty="0">
                <a:solidFill>
                  <a:schemeClr val="tx1"/>
                </a:solidFill>
              </a:rPr>
              <a:t>of names are in Bengali script</a:t>
            </a:r>
            <a:endParaRPr lang="en-US" sz="1400" dirty="0"/>
          </a:p>
        </p:txBody>
      </p:sp>
      <p:sp>
        <p:nvSpPr>
          <p:cNvPr id="7" name="Name unrated card"/>
          <p:cNvSpPr/>
          <p:nvPr/>
        </p:nvSpPr>
        <p:spPr>
          <a:xfrm>
            <a:off x="6035040" y="2697480"/>
            <a:ext cx="2651760" cy="1325880"/>
          </a:xfrm>
          <a:prstGeom prst="roundRect">
            <a:avLst>
              <a:gd name="adj" fmla="val 5517"/>
            </a:avLst>
          </a:prstGeom>
          <a:solidFill>
            <a:schemeClr val="bg2"/>
          </a:solidFill>
          <a:ln w="12700">
            <a:solidFill>
              <a:schemeClr val="bg2"/>
            </a:solidFill>
            <a:prstDash val="solid"/>
          </a:ln>
        </p:spPr>
      </p:sp>
      <p:sp>
        <p:nvSpPr>
          <p:cNvPr id="8" name="Name unrated value"/>
          <p:cNvSpPr txBox="1"/>
          <p:nvPr/>
        </p:nvSpPr>
        <p:spPr>
          <a:xfrm>
            <a:off x="6172200" y="2807208"/>
            <a:ext cx="2377440" cy="729234"/>
          </a:xfrm>
          <a:prstGeom prst="rect">
            <a:avLst/>
          </a:prstGeom>
          <a:noFill/>
          <a:ln/>
        </p:spPr>
        <p:txBody>
          <a:bodyPr wrap="square" lIns="0" tIns="0" rIns="0" bIns="0" rtlCol="0" anchor="ctr"/>
          <a:lstStyle/>
          <a:p>
            <a:pPr algn="l" indent="0" marL="0">
              <a:buNone/>
            </a:pPr>
            <a:r>
              <a:rPr lang="en-US" sz="2800" b="1" dirty="0">
                <a:solidFill>
                  <a:schemeClr val="accent2"/>
                </a:solidFill>
                <a:latin typeface="Cambria" pitchFamily="34" charset="0"/>
                <a:ea typeface="Cambria" pitchFamily="34" charset="-122"/>
                <a:cs typeface="Cambria" pitchFamily="34" charset="-120"/>
              </a:rPr>
              <a:t>30% vs 20%</a:t>
            </a:r>
            <a:endParaRPr lang="en-US" sz="2800" dirty="0"/>
          </a:p>
        </p:txBody>
      </p:sp>
      <p:sp>
        <p:nvSpPr>
          <p:cNvPr id="9" name="Name unrated label"/>
          <p:cNvSpPr txBox="1"/>
          <p:nvPr/>
        </p:nvSpPr>
        <p:spPr>
          <a:xfrm>
            <a:off x="6172200" y="3519526"/>
            <a:ext cx="2377440" cy="450799"/>
          </a:xfrm>
          <a:prstGeom prst="rect">
            <a:avLst/>
          </a:prstGeom>
          <a:noFill/>
          <a:ln/>
        </p:spPr>
        <p:txBody>
          <a:bodyPr wrap="square" lIns="0" tIns="0" rIns="0" bIns="0" rtlCol="0" anchor="t"/>
          <a:lstStyle/>
          <a:p>
            <a:pPr algn="l" indent="0" marL="0">
              <a:buNone/>
            </a:pPr>
            <a:r>
              <a:rPr lang="en-US" sz="1400" dirty="0">
                <a:solidFill>
                  <a:schemeClr val="tx1"/>
                </a:solidFill>
              </a:rPr>
              <a:t>unrated: Bengali vs English</a:t>
            </a:r>
            <a:endParaRPr lang="en-US" sz="14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standouts</a:t>
            </a:r>
            <a:endParaRPr lang="en-US" sz="3200" dirty="0"/>
          </a:p>
        </p:txBody>
      </p:sp>
      <p:sp>
        <p:nvSpPr>
          <p:cNvPr id="3" name="Table head left"/>
          <p:cNvSpPr txBox="1"/>
          <p:nvPr/>
        </p:nvSpPr>
        <p:spPr>
          <a:xfrm>
            <a:off x="457200" y="1051560"/>
            <a:ext cx="40233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Most reviewed</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023360" cy="914400"/>
        </p:xfrm>
        <a:graphic>
          <a:graphicData uri="http://schemas.openxmlformats.org/drawingml/2006/table">
            <a:tbl>
              <a:tblPr/>
              <a:tblGrid>
                <a:gridCol w="2286000"/>
                <a:gridCol w="914400"/>
                <a:gridCol w="822960"/>
              </a:tblGrid>
              <a:tr h="411480">
                <a:tc>
                  <a:txBody>
                    <a:bodyPr/>
                    <a:lstStyle/>
                    <a:p>
                      <a:pPr indent="0" marL="0">
                        <a:buNone/>
                      </a:pPr>
                      <a:r>
                        <a:rPr lang="en-US" sz="1200" b="1" dirty="0">
                          <a:solidFill>
                            <a:srgbClr val="FFFFFF"/>
                          </a:solidFill>
                        </a:rPr>
                        <a:t>Place</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006A4E"/>
                    </a:solidFill>
                  </a:tcPr>
                </a:tc>
                <a:tc>
                  <a:txBody>
                    <a:bodyPr/>
                    <a:lstStyle/>
                    <a:p>
                      <a:pPr indent="0" marL="0">
                        <a:buNone/>
                      </a:pPr>
                      <a:r>
                        <a:rPr lang="en-US" sz="1200" b="1" dirty="0">
                          <a:solidFill>
                            <a:srgbClr val="FFFFFF"/>
                          </a:solidFill>
                        </a:rPr>
                        <a:t>Reviews</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006A4E"/>
                    </a:solidFill>
                  </a:tcPr>
                </a:tc>
                <a:tc>
                  <a:txBody>
                    <a:bodyPr/>
                    <a:lstStyle/>
                    <a:p>
                      <a:pPr indent="0" marL="0">
                        <a:buNone/>
                      </a:pPr>
                      <a:r>
                        <a:rPr lang="en-US" sz="1200" b="1" dirty="0">
                          <a:solidFill>
                            <a:srgbClr val="FFFFFF"/>
                          </a:solidFill>
                        </a:rPr>
                        <a:t>Rating</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006A4E"/>
                    </a:solidFill>
                  </a:tcPr>
                </a:tc>
              </a:tr>
              <a:tr h="411480">
                <a:tc>
                  <a:txBody>
                    <a:bodyPr/>
                    <a:lstStyle/>
                    <a:p>
                      <a:pPr indent="0" marL="0">
                        <a:buNone/>
                      </a:pPr>
                      <a:r>
                        <a:rPr lang="en-US" sz="1200" dirty="0">
                          <a:solidFill>
                            <a:srgbClr val="1F2D2A"/>
                          </a:solidFill>
                        </a:rPr>
                        <a:t>Hotel Noorjahan</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17,655</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3.5</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Star Kebab &amp; Restaurant</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16,992</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4.2</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Sultan's Dine Dhanmondi</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15,622</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4.3</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Panshi Restaurant</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13,616</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4.2</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Pach Vai Restaurant</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11,459</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4.4</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bl>
          </a:graphicData>
        </a:graphic>
      </p:graphicFrame>
      <p:sp>
        <p:nvSpPr>
          <p:cNvPr id="5" name="Table head right"/>
          <p:cNvSpPr txBox="1"/>
          <p:nvPr/>
        </p:nvSpPr>
        <p:spPr>
          <a:xfrm>
            <a:off x="4663440" y="1051560"/>
            <a:ext cx="40233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Best rated, 500+ reviews (adjusted)</a:t>
            </a:r>
            <a:endParaRPr lang="en-US" sz="18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663440" y="1463040"/>
          <a:ext cx="4023360" cy="914400"/>
        </p:xfrm>
        <a:graphic>
          <a:graphicData uri="http://schemas.openxmlformats.org/drawingml/2006/table">
            <a:tbl>
              <a:tblPr/>
              <a:tblGrid>
                <a:gridCol w="2286000"/>
                <a:gridCol w="914400"/>
                <a:gridCol w="822960"/>
              </a:tblGrid>
              <a:tr h="411480">
                <a:tc>
                  <a:txBody>
                    <a:bodyPr/>
                    <a:lstStyle/>
                    <a:p>
                      <a:pPr indent="0" marL="0">
                        <a:buNone/>
                      </a:pPr>
                      <a:r>
                        <a:rPr lang="en-US" sz="1200" b="1" dirty="0">
                          <a:solidFill>
                            <a:srgbClr val="FFFFFF"/>
                          </a:solidFill>
                        </a:rPr>
                        <a:t>Place</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006A4E"/>
                    </a:solidFill>
                  </a:tcPr>
                </a:tc>
                <a:tc>
                  <a:txBody>
                    <a:bodyPr/>
                    <a:lstStyle/>
                    <a:p>
                      <a:pPr indent="0" marL="0">
                        <a:buNone/>
                      </a:pPr>
                      <a:r>
                        <a:rPr lang="en-US" sz="1200" b="1" dirty="0">
                          <a:solidFill>
                            <a:srgbClr val="FFFFFF"/>
                          </a:solidFill>
                        </a:rPr>
                        <a:t>Reviews</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006A4E"/>
                    </a:solidFill>
                  </a:tcPr>
                </a:tc>
                <a:tc>
                  <a:txBody>
                    <a:bodyPr/>
                    <a:lstStyle/>
                    <a:p>
                      <a:pPr indent="0" marL="0">
                        <a:buNone/>
                      </a:pPr>
                      <a:r>
                        <a:rPr lang="en-US" sz="1200" b="1" dirty="0">
                          <a:solidFill>
                            <a:srgbClr val="FFFFFF"/>
                          </a:solidFill>
                        </a:rPr>
                        <a:t>Rating</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solidFill>
                      <a:srgbClr val="006A4E"/>
                    </a:solidFill>
                  </a:tcPr>
                </a:tc>
              </a:tr>
              <a:tr h="411480">
                <a:tc>
                  <a:txBody>
                    <a:bodyPr/>
                    <a:lstStyle/>
                    <a:p>
                      <a:pPr indent="0" marL="0">
                        <a:buNone/>
                      </a:pPr>
                      <a:r>
                        <a:rPr lang="en-US" sz="1200" dirty="0">
                          <a:solidFill>
                            <a:srgbClr val="1F2D2A"/>
                          </a:solidFill>
                        </a:rPr>
                        <a:t>Yum Cha District</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2,814</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4.5</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Izumi Japanese Kitchen</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1,425</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4.5</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Izakaya</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1,116</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4.5</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Pach Vai Restaurant</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11,459</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4.4</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r h="411480">
                <a:tc>
                  <a:txBody>
                    <a:bodyPr/>
                    <a:lstStyle/>
                    <a:p>
                      <a:pPr indent="0" marL="0">
                        <a:buNone/>
                      </a:pPr>
                      <a:r>
                        <a:rPr lang="en-US" sz="1200" dirty="0">
                          <a:solidFill>
                            <a:srgbClr val="1F2D2A"/>
                          </a:solidFill>
                        </a:rPr>
                        <a:t>Takeout Banani</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5,433</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c>
                  <a:txBody>
                    <a:bodyPr/>
                    <a:lstStyle/>
                    <a:p>
                      <a:pPr algn="r" indent="0" marL="0">
                        <a:buNone/>
                      </a:pPr>
                      <a:r>
                        <a:rPr lang="en-US" sz="1200" dirty="0">
                          <a:solidFill>
                            <a:srgbClr val="1F2D2A"/>
                          </a:solidFill>
                        </a:rPr>
                        <a:t>4.4</a:t>
                      </a:r>
                      <a:endParaRPr lang="en-US" sz="1200" dirty="0"/>
                    </a:p>
                  </a:txBody>
                  <a:tcPr marL="91440" marR="91440" marT="45720" marB="45720" anchor="ctr">
                    <a:lnL w="9525" cap="flat" cmpd="sng" algn="ctr">
                      <a:solidFill>
                        <a:srgbClr val="DDE6E3"/>
                      </a:solidFill>
                      <a:prstDash val="solid"/>
                      <a:round/>
                      <a:headEnd type="none" w="med" len="med"/>
                      <a:tailEnd type="none" w="med" len="med"/>
                    </a:lnL>
                    <a:lnR w="9525" cap="flat" cmpd="sng" algn="ctr">
                      <a:solidFill>
                        <a:srgbClr val="DDE6E3"/>
                      </a:solidFill>
                      <a:prstDash val="solid"/>
                      <a:round/>
                      <a:headEnd type="none" w="med" len="med"/>
                      <a:tailEnd type="none" w="med" len="med"/>
                    </a:lnR>
                    <a:lnT w="9525" cap="flat" cmpd="sng" algn="ctr">
                      <a:solidFill>
                        <a:srgbClr val="DDE6E3"/>
                      </a:solidFill>
                      <a:prstDash val="solid"/>
                      <a:round/>
                      <a:headEnd type="none" w="med" len="med"/>
                      <a:tailEnd type="none" w="med" len="med"/>
                    </a:lnT>
                    <a:lnB w="9525" cap="flat" cmpd="sng" algn="ctr">
                      <a:solidFill>
                        <a:srgbClr val="DDE6E3"/>
                      </a:solidFill>
                      <a:prstDash val="solid"/>
                      <a:round/>
                      <a:headEnd type="none" w="med" len="med"/>
                      <a:tailEnd type="none" w="med" len="med"/>
                    </a:lnB>
                  </a:tcPr>
                </a:tc>
              </a:tr>
            </a:tbl>
          </a:graphicData>
        </a:graphic>
      </p:graphicFrame>
      <p:sp>
        <p:nvSpPr>
          <p:cNvPr id="7" name="Table footnote"/>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00" dirty="0">
                <a:solidFill>
                  <a:srgbClr val="8A9A95"/>
                </a:solidFill>
              </a:rPr>
              <a:t>English-script names only; full lists are in facts/08_top_lists.txt</a:t>
            </a:r>
            <a:endParaRPr lang="en-US" sz="12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Five things to remember</a:t>
            </a:r>
            <a:endParaRPr lang="en-US" sz="3200" dirty="0"/>
          </a:p>
        </p:txBody>
      </p:sp>
      <p:sp>
        <p:nvSpPr>
          <p:cNvPr id="3" name="Take num bg 1"/>
          <p:cNvSpPr/>
          <p:nvPr/>
        </p:nvSpPr>
        <p:spPr>
          <a:xfrm>
            <a:off x="457200" y="1143000"/>
            <a:ext cx="502920" cy="502920"/>
          </a:xfrm>
          <a:prstGeom prst="ellipse">
            <a:avLst/>
          </a:prstGeom>
          <a:solidFill>
            <a:schemeClr val="accent2"/>
          </a:solidFill>
          <a:ln w="12700">
            <a:solidFill>
              <a:schemeClr val="accent2"/>
            </a:solidFill>
            <a:prstDash val="solid"/>
          </a:ln>
        </p:spPr>
      </p:sp>
      <p:sp>
        <p:nvSpPr>
          <p:cNvPr id="4" name="Take num 1"/>
          <p:cNvSpPr txBox="1"/>
          <p:nvPr/>
        </p:nvSpPr>
        <p:spPr>
          <a:xfrm>
            <a:off x="457200" y="11430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5" name="Take text 1"/>
          <p:cNvSpPr txBox="1"/>
          <p:nvPr/>
        </p:nvSpPr>
        <p:spPr>
          <a:xfrm>
            <a:off x="1188720" y="1143000"/>
            <a:ext cx="7498080" cy="502920"/>
          </a:xfrm>
          <a:prstGeom prst="rect">
            <a:avLst/>
          </a:prstGeom>
          <a:noFill/>
          <a:ln/>
        </p:spPr>
        <p:txBody>
          <a:bodyPr wrap="square" lIns="0" tIns="0" rIns="0" bIns="0" rtlCol="0" anchor="ctr"/>
          <a:lstStyle/>
          <a:p>
            <a:pPr indent="0" marL="0">
              <a:buNone/>
            </a:pPr>
            <a:r>
              <a:rPr lang="en-US" sz="2000" dirty="0">
                <a:solidFill>
                  <a:schemeClr val="bg1"/>
                </a:solidFill>
              </a:rPr>
              <a:t>12,703 rows, but only 10,755 real places</a:t>
            </a:r>
            <a:endParaRPr lang="en-US" sz="2000" dirty="0"/>
          </a:p>
        </p:txBody>
      </p:sp>
      <p:sp>
        <p:nvSpPr>
          <p:cNvPr id="6" name="Take num bg 2"/>
          <p:cNvSpPr/>
          <p:nvPr/>
        </p:nvSpPr>
        <p:spPr>
          <a:xfrm>
            <a:off x="457200" y="1847088"/>
            <a:ext cx="502920" cy="502920"/>
          </a:xfrm>
          <a:prstGeom prst="ellipse">
            <a:avLst/>
          </a:prstGeom>
          <a:solidFill>
            <a:schemeClr val="accent2"/>
          </a:solidFill>
          <a:ln w="12700">
            <a:solidFill>
              <a:schemeClr val="accent2"/>
            </a:solidFill>
            <a:prstDash val="solid"/>
          </a:ln>
        </p:spPr>
      </p:sp>
      <p:sp>
        <p:nvSpPr>
          <p:cNvPr id="7" name="Take num 2"/>
          <p:cNvSpPr txBox="1"/>
          <p:nvPr/>
        </p:nvSpPr>
        <p:spPr>
          <a:xfrm>
            <a:off x="457200" y="1847088"/>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Take text 2"/>
          <p:cNvSpPr txBox="1"/>
          <p:nvPr/>
        </p:nvSpPr>
        <p:spPr>
          <a:xfrm>
            <a:off x="1188720" y="1847088"/>
            <a:ext cx="7498080" cy="502920"/>
          </a:xfrm>
          <a:prstGeom prst="rect">
            <a:avLst/>
          </a:prstGeom>
          <a:noFill/>
          <a:ln/>
        </p:spPr>
        <p:txBody>
          <a:bodyPr wrap="square" lIns="0" tIns="0" rIns="0" bIns="0" rtlCol="0" anchor="ctr"/>
          <a:lstStyle/>
          <a:p>
            <a:pPr indent="0" marL="0">
              <a:buNone/>
            </a:pPr>
            <a:r>
              <a:rPr lang="en-US" sz="2000" dirty="0">
                <a:solidFill>
                  <a:schemeClr val="bg1"/>
                </a:solidFill>
              </a:rPr>
              <a:t>A rating of 0 means no rating, not a bad score</a:t>
            </a:r>
            <a:endParaRPr lang="en-US" sz="2000" dirty="0"/>
          </a:p>
        </p:txBody>
      </p:sp>
      <p:sp>
        <p:nvSpPr>
          <p:cNvPr id="9" name="Take num bg 3"/>
          <p:cNvSpPr/>
          <p:nvPr/>
        </p:nvSpPr>
        <p:spPr>
          <a:xfrm>
            <a:off x="457200" y="2551176"/>
            <a:ext cx="502920" cy="502920"/>
          </a:xfrm>
          <a:prstGeom prst="ellipse">
            <a:avLst/>
          </a:prstGeom>
          <a:solidFill>
            <a:schemeClr val="accent2"/>
          </a:solidFill>
          <a:ln w="12700">
            <a:solidFill>
              <a:schemeClr val="accent2"/>
            </a:solidFill>
            <a:prstDash val="solid"/>
          </a:ln>
        </p:spPr>
      </p:sp>
      <p:sp>
        <p:nvSpPr>
          <p:cNvPr id="10" name="Take num 3"/>
          <p:cNvSpPr txBox="1"/>
          <p:nvPr/>
        </p:nvSpPr>
        <p:spPr>
          <a:xfrm>
            <a:off x="457200" y="2551176"/>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1" name="Take text 3"/>
          <p:cNvSpPr txBox="1"/>
          <p:nvPr/>
        </p:nvSpPr>
        <p:spPr>
          <a:xfrm>
            <a:off x="1188720" y="2551176"/>
            <a:ext cx="7498080" cy="502920"/>
          </a:xfrm>
          <a:prstGeom prst="rect">
            <a:avLst/>
          </a:prstGeom>
          <a:noFill/>
          <a:ln/>
        </p:spPr>
        <p:txBody>
          <a:bodyPr wrap="square" lIns="0" tIns="0" rIns="0" bIns="0" rtlCol="0" anchor="ctr"/>
          <a:lstStyle/>
          <a:p>
            <a:pPr indent="0" marL="0">
              <a:buNone/>
            </a:pPr>
            <a:r>
              <a:rPr lang="en-US" sz="2000" dirty="0">
                <a:solidFill>
                  <a:schemeClr val="bg1"/>
                </a:solidFill>
              </a:rPr>
              <a:t>A perfect 5.0 usually means 1-2 reviews</a:t>
            </a:r>
            <a:endParaRPr lang="en-US" sz="2000" dirty="0"/>
          </a:p>
        </p:txBody>
      </p:sp>
      <p:sp>
        <p:nvSpPr>
          <p:cNvPr id="12" name="Take num bg 4"/>
          <p:cNvSpPr/>
          <p:nvPr/>
        </p:nvSpPr>
        <p:spPr>
          <a:xfrm>
            <a:off x="457200" y="3255264"/>
            <a:ext cx="502920" cy="502920"/>
          </a:xfrm>
          <a:prstGeom prst="ellipse">
            <a:avLst/>
          </a:prstGeom>
          <a:solidFill>
            <a:schemeClr val="accent2"/>
          </a:solidFill>
          <a:ln w="12700">
            <a:solidFill>
              <a:schemeClr val="accent2"/>
            </a:solidFill>
            <a:prstDash val="solid"/>
          </a:ln>
        </p:spPr>
      </p:sp>
      <p:sp>
        <p:nvSpPr>
          <p:cNvPr id="13" name="Take num 4"/>
          <p:cNvSpPr txBox="1"/>
          <p:nvPr/>
        </p:nvSpPr>
        <p:spPr>
          <a:xfrm>
            <a:off x="457200" y="3255264"/>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4" name="Take text 4"/>
          <p:cNvSpPr txBox="1"/>
          <p:nvPr/>
        </p:nvSpPr>
        <p:spPr>
          <a:xfrm>
            <a:off x="1188720" y="3255264"/>
            <a:ext cx="7498080" cy="502920"/>
          </a:xfrm>
          <a:prstGeom prst="rect">
            <a:avLst/>
          </a:prstGeom>
          <a:noFill/>
          <a:ln/>
        </p:spPr>
        <p:txBody>
          <a:bodyPr wrap="square" lIns="0" tIns="0" rIns="0" bIns="0" rtlCol="0" anchor="ctr"/>
          <a:lstStyle/>
          <a:p>
            <a:pPr indent="0" marL="0">
              <a:buNone/>
            </a:pPr>
            <a:r>
              <a:rPr lang="en-US" sz="2000" dirty="0">
                <a:solidFill>
                  <a:schemeClr val="bg1"/>
                </a:solidFill>
              </a:rPr>
              <a:t>Reviews measure fame, concentrated in Dhaka</a:t>
            </a:r>
            <a:endParaRPr lang="en-US" sz="2000" dirty="0"/>
          </a:p>
        </p:txBody>
      </p:sp>
      <p:sp>
        <p:nvSpPr>
          <p:cNvPr id="15" name="Take num bg 5"/>
          <p:cNvSpPr/>
          <p:nvPr/>
        </p:nvSpPr>
        <p:spPr>
          <a:xfrm>
            <a:off x="457200" y="3959352"/>
            <a:ext cx="502920" cy="502920"/>
          </a:xfrm>
          <a:prstGeom prst="ellipse">
            <a:avLst/>
          </a:prstGeom>
          <a:solidFill>
            <a:schemeClr val="accent2"/>
          </a:solidFill>
          <a:ln w="12700">
            <a:solidFill>
              <a:schemeClr val="accent2"/>
            </a:solidFill>
            <a:prstDash val="solid"/>
          </a:ln>
        </p:spPr>
      </p:sp>
      <p:sp>
        <p:nvSpPr>
          <p:cNvPr id="16" name="Take num 5"/>
          <p:cNvSpPr txBox="1"/>
          <p:nvPr/>
        </p:nvSpPr>
        <p:spPr>
          <a:xfrm>
            <a:off x="457200" y="3959352"/>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7" name="Take text 5"/>
          <p:cNvSpPr txBox="1"/>
          <p:nvPr/>
        </p:nvSpPr>
        <p:spPr>
          <a:xfrm>
            <a:off x="1188720" y="3959352"/>
            <a:ext cx="7498080" cy="502920"/>
          </a:xfrm>
          <a:prstGeom prst="rect">
            <a:avLst/>
          </a:prstGeom>
          <a:noFill/>
          <a:ln/>
        </p:spPr>
        <p:txBody>
          <a:bodyPr wrap="square" lIns="0" tIns="0" rIns="0" bIns="0" rtlCol="0" anchor="ctr"/>
          <a:lstStyle/>
          <a:p>
            <a:pPr indent="0" marL="0">
              <a:buNone/>
            </a:pPr>
            <a:r>
              <a:rPr lang="en-US" sz="2000" dirty="0">
                <a:solidFill>
                  <a:schemeClr val="bg1"/>
                </a:solidFill>
              </a:rPr>
              <a:t>Affluence covers only well-reviewed places</a:t>
            </a:r>
            <a:endParaRPr lang="en-US" sz="2000" dirty="0"/>
          </a:p>
        </p:txBody>
      </p:sp>
      <p:sp>
        <p:nvSpPr>
          <p:cNvPr id="25" name="Slide Number Placeholder 0"/>
          <p:cNvSpPr>
            <a:spLocks noGrp="1"/>
          </p:cNvSpPr>
          <p:nvPr>
            <p:ph type="sldNum" sz="quarter" idx="4294967295"/>
          </p:nvPr>
        </p:nvSpPr>
        <p:spPr>
          <a:xfrm>
            <a:off x="832104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A95"/>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Bangladesh Food Data">
  <a:themeElements>
    <a:clrScheme name="Bangladesh Food Data">
      <a:dk1>
        <a:srgbClr val="1F2D2A"/>
      </a:dk1>
      <a:lt1>
        <a:srgbClr val="FFFFFF"/>
      </a:lt1>
      <a:dk2>
        <a:srgbClr val="0B3D2E"/>
      </a:dk2>
      <a:lt2>
        <a:srgbClr val="EAF3F0"/>
      </a:lt2>
      <a:accent1>
        <a:srgbClr val="006A4E"/>
      </a:accent1>
      <a:accent2>
        <a:srgbClr val="F42A41"/>
      </a:accent2>
      <a:accent3>
        <a:srgbClr val="E9B44C"/>
      </a:accent3>
      <a:accent4>
        <a:srgbClr val="8A9A95"/>
      </a:accent4>
      <a:accent5>
        <a:srgbClr val="0B3D2E"/>
      </a:accent5>
      <a:accent6>
        <a:srgbClr val="4FA38A"/>
      </a:accent6>
      <a:hlink>
        <a:srgbClr val="006A4E"/>
      </a:hlink>
      <a:folHlink>
        <a:srgbClr val="8A9A95"/>
      </a:folHlink>
    </a:clrScheme>
    <a:fontScheme name="Bangladesh Food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Bangladesh Restaurant Data</dc:title>
  <dc:subject>PptxGenJS Presentation</dc:subject>
  <dc:creator>Data analysis</dc:creator>
  <cp:lastModifiedBy>Data analysis</cp:lastModifiedBy>
  <cp:revision>1</cp:revision>
  <dcterms:created xsi:type="dcterms:W3CDTF">2026-10-22T06:29:27Z</dcterms:created>
  <dcterms:modified xsi:type="dcterms:W3CDTF">2026-10-22T06:29:27Z</dcterms:modified>
</cp:coreProperties>
</file>