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by setting the expectation: this is a 4-minute data walkthrough of Bangladesh's national food landscape on Google Maps.
- Scope in one line: 10,755 unique restaurants and food places across all 64 districts, cleaned up from 12,703 raw listings.
- Point to the three chips: 919,308 customer reviews, coverage in 62 of 64 districts, and a 4.08 average rating among rated places.
- Frame the promise of the deck: what customers say, where attention lives, and where the openings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Stress that every number quoted from here on comes from the de-duplicated file: 12,703 raw rows become 10,755 unique places.
- Duplicates inflate raw review totals by ~1.15M - the raw file shows 2.07M, the real count is 919,308.
- 23.5% of places have never been rated: a 0 rating means unrated, not bad (2,529 places).
- 47.8% have 2 reviews or fewer - half the market is effectively invisible online.
- Hygiene flags: affluence column 90.5% empty, 110 rows are not restaurants, 63 addresses are in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Ratings skew high: 4.08 average, 65.5% of rated places score 4.0+, and a perfect 5.0 is the single most common score (21.6%).
- Offer both readings: either the food scene is genuinely strong, or weak performers disappear from Maps.
- Volume is not praise: the busiest venues average only 3.4-4.4 stars; Spearman rho = -0.25 between review count and rating.
- Punchline: popularity attracts harsher grading - big venues cannot hide behind a small fan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Dhaka is ~25% of listings but 58% of all reviews — attention is far more concentrated than supply.
- Key line: visibility, not quality, is the scarce resource on Google Maps.
- Chattogram is a distant #2 on both listings and reviews.
- Top 1% of venues (~108 places) take 40.4% of ALL reviews; 5,138 places (47.8%) have 2 reviews or fewer.
- Sylhet punchline: 69K reviews from only 703 listings — tourist traffic converts into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three moves in order: invisible half → Dhaka plus corridors → category and language signals.
- Move 01: 47.8% of places have almost no reviews — uncontested space for a digitization program.
- Move 02: 57.8% of reviews sit in Dhaka; Sylhet and tourist districts offer the best review economics per listing.
- Move 03: 309 biryani houses lead named specialties (vs Chinese 297, kebab &amp; grill 131); 32.4% name in Bangla script.
- Close on the three moves, then hand over to Q&amp;A — full factsheets and cleaned CSV are in the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86388" y="500063"/>
            <a:ext cx="3357563" cy="3143250"/>
          </a:xfrm>
          <a:prstGeom prst="roundRect">
            <a:avLst>
              <a:gd name="adj" fmla="val 10909"/>
            </a:avLst>
          </a:prstGeom>
          <a:solidFill>
            <a:srgbClr val="E8ED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65169" y="500063"/>
            <a:ext cx="14288" cy="3143250"/>
          </a:xfrm>
          <a:prstGeom prst="rect">
            <a:avLst/>
          </a:prstGeom>
          <a:solidFill>
            <a:srgbClr val="D6D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86388" y="2071688"/>
            <a:ext cx="3357563" cy="14288"/>
          </a:xfrm>
          <a:prstGeom prst="rect">
            <a:avLst/>
          </a:prstGeom>
          <a:solidFill>
            <a:srgbClr val="D6D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36506" y="1193006"/>
            <a:ext cx="1200150" cy="1057275"/>
          </a:xfrm>
          <a:prstGeom prst="roundRect">
            <a:avLst>
              <a:gd name="adj" fmla="val 86486"/>
            </a:avLst>
          </a:prstGeom>
          <a:solidFill>
            <a:srgbClr val="FFFFFF">
              <a:alpha val="85000"/>
            </a:srgbClr>
          </a:solidFill>
          <a:ln w="14288">
            <a:solidFill>
              <a:srgbClr val="4C6E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93656" y="1317241"/>
            <a:ext cx="100013" cy="100013"/>
          </a:xfrm>
          <a:prstGeom prst="roundRect">
            <a:avLst>
              <a:gd name="adj" fmla="val 95228095"/>
            </a:avLst>
          </a:prstGeom>
          <a:solidFill>
            <a:srgbClr val="4C6EF5"/>
          </a:solidFill>
          <a:ln/>
          <a:effectLst>
            <a:outerShdw sx="100000" sy="100000" kx="0" ky="0" algn="bl" rotWithShape="0" blurRad="101600" dist="50800" dir="16200000">
              <a:srgbClr val="E8EDFD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68009" y="1034393"/>
            <a:ext cx="71438" cy="71438"/>
          </a:xfrm>
          <a:prstGeom prst="roundRect">
            <a:avLst>
              <a:gd name="adj" fmla="val 133319067"/>
            </a:avLst>
          </a:prstGeom>
          <a:solidFill>
            <a:srgbClr val="4C6EF5">
              <a:alpha val="75000"/>
            </a:srgbClr>
          </a:solidFill>
          <a:ln/>
          <a:effectLst>
            <a:outerShdw sx="100000" sy="100000" kx="0" ky="0" algn="bl" rotWithShape="0" blurRad="101600" dist="50800" dir="16200000">
              <a:srgbClr val="E8EDFD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70961" y="2134530"/>
            <a:ext cx="100013" cy="100013"/>
          </a:xfrm>
          <a:prstGeom prst="roundRect">
            <a:avLst>
              <a:gd name="adj" fmla="val 95228095"/>
            </a:avLst>
          </a:prstGeom>
          <a:solidFill>
            <a:srgbClr val="4C6EF5"/>
          </a:solidFill>
          <a:ln/>
          <a:effectLst>
            <a:outerShdw sx="100000" sy="100000" kx="0" ky="0" algn="bl" rotWithShape="0" blurRad="101600" dist="50800" dir="16200000">
              <a:srgbClr val="E8EDFD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62217" y="2637383"/>
            <a:ext cx="71438" cy="71438"/>
          </a:xfrm>
          <a:prstGeom prst="roundRect">
            <a:avLst>
              <a:gd name="adj" fmla="val 133319067"/>
            </a:avLst>
          </a:prstGeom>
          <a:solidFill>
            <a:srgbClr val="4C6EF5">
              <a:alpha val="75000"/>
            </a:srgbClr>
          </a:solidFill>
          <a:ln/>
          <a:effectLst>
            <a:outerShdw sx="100000" sy="100000" kx="0" ky="0" algn="bl" rotWithShape="0" blurRad="101600" dist="50800" dir="16200000">
              <a:srgbClr val="E8EDFD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75091" y="1768078"/>
            <a:ext cx="164306" cy="164306"/>
          </a:xfrm>
          <a:prstGeom prst="roundRect">
            <a:avLst>
              <a:gd name="adj" fmla="val 57965306"/>
            </a:avLst>
          </a:prstGeom>
          <a:noFill/>
          <a:ln w="21431">
            <a:solidFill>
              <a:srgbClr val="4C6E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549176"/>
            <a:ext cx="285750" cy="35719"/>
          </a:xfrm>
          <a:prstGeom prst="roundRect">
            <a:avLst>
              <a:gd name="adj" fmla="val 79999"/>
            </a:avLst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400" y="500063"/>
            <a:ext cx="77152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41" kern="0" dirty="0">
                <a:solidFill>
                  <a:srgbClr val="3B5B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BRIEFING - GOOGLE MAPS BUSINESS LISTINGS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4350" y="934045"/>
            <a:ext cx="8629650" cy="501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39"/>
              </a:lnSpc>
              <a:buNone/>
            </a:pPr>
            <a:r>
              <a:rPr lang="en-US" sz="3752" b="1" spc="-75" kern="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Bangladesh's Food Market,</a:t>
            </a:r>
            <a:endParaRPr lang="en-US" sz="3752" dirty="0"/>
          </a:p>
        </p:txBody>
      </p:sp>
      <p:sp>
        <p:nvSpPr>
          <p:cNvPr id="15" name="Text 13"/>
          <p:cNvSpPr/>
          <p:nvPr/>
        </p:nvSpPr>
        <p:spPr>
          <a:xfrm>
            <a:off x="514350" y="1462906"/>
            <a:ext cx="8629650" cy="939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51"/>
              </a:lnSpc>
              <a:buNone/>
            </a:pPr>
            <a:r>
              <a:rPr lang="en-US" sz="6851" b="1" spc="-206" kern="0" dirty="0">
                <a:solidFill>
                  <a:srgbClr val="4C6E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Measured.</a:t>
            </a:r>
            <a:endParaRPr lang="en-US" sz="6851" dirty="0"/>
          </a:p>
        </p:txBody>
      </p:sp>
      <p:sp>
        <p:nvSpPr>
          <p:cNvPr id="16" name="Text 14"/>
          <p:cNvSpPr/>
          <p:nvPr/>
        </p:nvSpPr>
        <p:spPr>
          <a:xfrm>
            <a:off x="514350" y="2533017"/>
            <a:ext cx="5000625" cy="474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full inspection of </a:t>
            </a:r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10,755 restaurants and food places</a:t>
            </a:r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across all </a:t>
            </a:r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districts</a:t>
            </a:r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what customers say, where attention lives, and where the openings are.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517922" y="4036219"/>
            <a:ext cx="1957053" cy="432197"/>
          </a:xfrm>
          <a:prstGeom prst="roundRect">
            <a:avLst>
              <a:gd name="adj" fmla="val 220165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9525" dir="5400000">
              <a:srgbClr val="243447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0" descr="/tmp/h2p-svg-1792587320933-p1oeb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944" y="4173736"/>
            <a:ext cx="157163" cy="15716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28688" y="4139803"/>
            <a:ext cx="81897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919,308</a:t>
            </a:r>
            <a:endParaRPr lang="en-US" sz="1181" dirty="0"/>
          </a:p>
        </p:txBody>
      </p:sp>
      <p:sp>
        <p:nvSpPr>
          <p:cNvPr id="20" name="Text 17"/>
          <p:cNvSpPr/>
          <p:nvPr/>
        </p:nvSpPr>
        <p:spPr>
          <a:xfrm>
            <a:off x="1549636" y="4179987"/>
            <a:ext cx="7503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reviews</a:t>
            </a:r>
            <a:endParaRPr lang="en-US" sz="759" dirty="0"/>
          </a:p>
        </p:txBody>
      </p:sp>
      <p:sp>
        <p:nvSpPr>
          <p:cNvPr id="21" name="Text 18"/>
          <p:cNvSpPr/>
          <p:nvPr/>
        </p:nvSpPr>
        <p:spPr>
          <a:xfrm>
            <a:off x="2596418" y="4036219"/>
            <a:ext cx="1919994" cy="432197"/>
          </a:xfrm>
          <a:prstGeom prst="roundRect">
            <a:avLst>
              <a:gd name="adj" fmla="val 220165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9525" dir="5400000">
              <a:srgbClr val="243447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1" descr="/tmp/h2p-svg-1792587320935-drrkm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440" y="4173736"/>
            <a:ext cx="157163" cy="15716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007184" y="4139803"/>
            <a:ext cx="79904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of 64</a:t>
            </a:r>
            <a:endParaRPr lang="en-US" sz="1181" dirty="0"/>
          </a:p>
        </p:txBody>
      </p:sp>
      <p:sp>
        <p:nvSpPr>
          <p:cNvPr id="24" name="Text 20"/>
          <p:cNvSpPr/>
          <p:nvPr/>
        </p:nvSpPr>
        <p:spPr>
          <a:xfrm>
            <a:off x="3644540" y="4179987"/>
            <a:ext cx="696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districts covered</a:t>
            </a:r>
            <a:endParaRPr lang="en-US" sz="759" dirty="0"/>
          </a:p>
        </p:txBody>
      </p:sp>
      <p:sp>
        <p:nvSpPr>
          <p:cNvPr id="25" name="Text 21"/>
          <p:cNvSpPr/>
          <p:nvPr/>
        </p:nvSpPr>
        <p:spPr>
          <a:xfrm>
            <a:off x="4637856" y="4036219"/>
            <a:ext cx="2232422" cy="432197"/>
          </a:xfrm>
          <a:prstGeom prst="roundRect">
            <a:avLst>
              <a:gd name="adj" fmla="val 220165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9525" dir="5400000">
              <a:srgbClr val="243447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2" descr="/tmp/h2p-svg-1792587320936-sguagj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878" y="4173736"/>
            <a:ext cx="157163" cy="15716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48622" y="4139803"/>
            <a:ext cx="46720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4.08</a:t>
            </a:r>
            <a:endParaRPr lang="en-US" sz="1181" dirty="0"/>
          </a:p>
        </p:txBody>
      </p:sp>
      <p:sp>
        <p:nvSpPr>
          <p:cNvPr id="28" name="Text 23"/>
          <p:cNvSpPr/>
          <p:nvPr/>
        </p:nvSpPr>
        <p:spPr>
          <a:xfrm>
            <a:off x="5419204" y="4179987"/>
            <a:ext cx="13526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average rating of rated places</a:t>
            </a:r>
            <a:endParaRPr lang="en-US" sz="759" dirty="0"/>
          </a:p>
        </p:txBody>
      </p:sp>
      <p:sp>
        <p:nvSpPr>
          <p:cNvPr id="29" name="Text 24"/>
          <p:cNvSpPr/>
          <p:nvPr/>
        </p:nvSpPr>
        <p:spPr>
          <a:xfrm>
            <a:off x="514350" y="485239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Source: restaurants.csv - 12,703 raw listings, de-duplicated | October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059"/>
            <a:ext cx="200025" cy="35719"/>
          </a:xfrm>
          <a:prstGeom prst="roundRect">
            <a:avLst>
              <a:gd name="adj" fmla="val 79999"/>
            </a:avLst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7238" y="425946"/>
            <a:ext cx="2093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41" kern="0" dirty="0">
                <a:solidFill>
                  <a:srgbClr val="3B5B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DATASET AT A GLANCE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08800" y="375047"/>
            <a:ext cx="1674428" cy="235744"/>
          </a:xfrm>
          <a:prstGeom prst="roundRect">
            <a:avLst>
              <a:gd name="adj" fmla="val 40363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svg-1792587327002-ausw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6672" y="435769"/>
            <a:ext cx="114300" cy="114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8122" y="428625"/>
            <a:ext cx="134326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restaurants.csv - de-duplicated</a:t>
            </a:r>
            <a:endParaRPr lang="en-US" sz="675" dirty="0"/>
          </a:p>
        </p:txBody>
      </p:sp>
      <p:sp>
        <p:nvSpPr>
          <p:cNvPr id="7" name="Text 4"/>
          <p:cNvSpPr/>
          <p:nvPr/>
        </p:nvSpPr>
        <p:spPr>
          <a:xfrm>
            <a:off x="457200" y="700088"/>
            <a:ext cx="8636000" cy="75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5"/>
              </a:lnSpc>
              <a:buNone/>
            </a:pPr>
            <a:r>
              <a:rPr lang="en-US" sz="2250" b="1" spc="-45" kern="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 and a half thousand places, </a:t>
            </a:r>
            <a:pPr algn="l" indent="0" marL="0">
              <a:lnSpc>
                <a:spcPts val="2745"/>
              </a:lnSpc>
              <a:buNone/>
            </a:pPr>
            <a:r>
              <a:rPr lang="en-US" sz="2250" b="1" spc="-45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919K</a:t>
            </a:r>
            <a:pPr algn="l" indent="0" marL="0">
              <a:lnSpc>
                <a:spcPts val="2745"/>
              </a:lnSpc>
              <a:buNone/>
            </a:pPr>
            <a:r>
              <a:rPr lang="en-US" sz="2250" b="1" spc="-45" kern="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reviews -</a:t>
            </a:r>
            <a:endParaRPr lang="en-US" sz="2250" dirty="0"/>
          </a:p>
          <a:p>
            <a:pPr algn="l" indent="0" marL="0">
              <a:lnSpc>
                <a:spcPts val="2745"/>
              </a:lnSpc>
              <a:buNone/>
            </a:pPr>
            <a:r>
              <a:rPr lang="en-US" sz="2250" b="1" spc="-45" kern="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 a raw file that needs care.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460772" y="1543720"/>
            <a:ext cx="4739878" cy="1215889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35794" y="167587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4344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635794" y="2109081"/>
            <a:ext cx="923811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12,703</a:t>
            </a:r>
            <a:endParaRPr lang="en-US" sz="1575" dirty="0"/>
          </a:p>
        </p:txBody>
      </p:sp>
      <p:pic>
        <p:nvPicPr>
          <p:cNvPr id="11" name="Image 1" descr="/tmp/h2p-svg-1792587327002-7p2h4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314" y="2137656"/>
            <a:ext cx="171450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90489" y="2037643"/>
            <a:ext cx="3435139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10,755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635794" y="2473412"/>
            <a:ext cx="4389834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raw rows become unique places after removing </a:t>
            </a:r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1,948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duplicates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336381" y="1543720"/>
            <a:ext cx="3346847" cy="1215889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511403" y="167587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4344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6" name="Text 12"/>
          <p:cNvSpPr/>
          <p:nvPr/>
        </p:nvSpPr>
        <p:spPr>
          <a:xfrm>
            <a:off x="5511403" y="2066218"/>
            <a:ext cx="2996803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919,308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5511403" y="2473412"/>
            <a:ext cx="2996803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customer reviews (the raw file double-counts </a:t>
            </a:r>
            <a:pPr algn="l" indent="0" marL="0">
              <a:lnSpc>
                <a:spcPts val="1101"/>
              </a:lnSpc>
              <a:buNone/>
            </a:pPr>
            <a:r>
              <a:rPr lang="en-US" sz="759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2.07M</a:t>
            </a:r>
            <a:pPr algn="l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759" dirty="0"/>
          </a:p>
        </p:txBody>
      </p:sp>
      <p:sp>
        <p:nvSpPr>
          <p:cNvPr id="18" name="Text 14"/>
          <p:cNvSpPr/>
          <p:nvPr/>
        </p:nvSpPr>
        <p:spPr>
          <a:xfrm>
            <a:off x="460772" y="2895340"/>
            <a:ext cx="3346847" cy="1215889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35794" y="302749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4344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635794" y="3417838"/>
            <a:ext cx="2996803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635794" y="3825032"/>
            <a:ext cx="2996803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places have never been rated - a </a:t>
            </a:r>
            <a:pPr algn="l" indent="0" marL="0">
              <a:lnSpc>
                <a:spcPts val="1101"/>
              </a:lnSpc>
              <a:buNone/>
            </a:pPr>
            <a:r>
              <a:rPr lang="en-US" sz="759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rating means unrated, not bad</a:t>
            </a:r>
            <a:endParaRPr lang="en-US" sz="759" dirty="0"/>
          </a:p>
        </p:txBody>
      </p:sp>
      <p:sp>
        <p:nvSpPr>
          <p:cNvPr id="22" name="Text 18"/>
          <p:cNvSpPr/>
          <p:nvPr/>
        </p:nvSpPr>
        <p:spPr>
          <a:xfrm>
            <a:off x="3943350" y="2895340"/>
            <a:ext cx="4739878" cy="1215889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118372" y="302749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4344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4" name="Text 20"/>
          <p:cNvSpPr/>
          <p:nvPr/>
        </p:nvSpPr>
        <p:spPr>
          <a:xfrm>
            <a:off x="4118372" y="3417838"/>
            <a:ext cx="4389834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47.8%</a:t>
            </a:r>
            <a:endParaRPr lang="en-US" sz="2700" dirty="0"/>
          </a:p>
        </p:txBody>
      </p:sp>
      <p:sp>
        <p:nvSpPr>
          <p:cNvPr id="25" name="Text 21"/>
          <p:cNvSpPr/>
          <p:nvPr/>
        </p:nvSpPr>
        <p:spPr>
          <a:xfrm>
            <a:off x="4118372" y="3825032"/>
            <a:ext cx="4389834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places have </a:t>
            </a:r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reviews or fewer - half the market is invisible online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60772" y="4261247"/>
            <a:ext cx="8222456" cy="550069"/>
          </a:xfrm>
          <a:prstGeom prst="roundRect">
            <a:avLst>
              <a:gd name="adj" fmla="val 24242"/>
            </a:avLst>
          </a:prstGeom>
          <a:solidFill>
            <a:srgbClr val="E8EDFD"/>
          </a:solidFill>
          <a:ln w="7144">
            <a:solidFill>
              <a:srgbClr val="D6DFF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2" descr="/tmp/h2p-svg-1792587327002-kmvcn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81" y="4464844"/>
            <a:ext cx="142875" cy="14287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64394" y="4477345"/>
            <a:ext cx="9629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3B5B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CAVEATS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1750442" y="4386263"/>
            <a:ext cx="7144" cy="300038"/>
          </a:xfrm>
          <a:prstGeom prst="rect">
            <a:avLst/>
          </a:prstGeom>
          <a:solidFill>
            <a:srgbClr val="D6D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1900461" y="4471318"/>
            <a:ext cx="1753532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Rating </a:t>
            </a:r>
            <a:pPr algn="l" indent="0" marL="0">
              <a:lnSpc>
                <a:spcPts val="1024"/>
              </a:lnSpc>
              <a:buNone/>
            </a:pPr>
            <a:r>
              <a:rPr lang="en-US" sz="731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not yet rated (</a:t>
            </a:r>
            <a:pPr algn="l" indent="0" marL="0">
              <a:lnSpc>
                <a:spcPts val="1024"/>
              </a:lnSpc>
              <a:buNone/>
            </a:pPr>
            <a:r>
              <a:rPr lang="en-US" sz="731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2,529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places)</a:t>
            </a:r>
            <a:endParaRPr lang="en-US" sz="731" dirty="0"/>
          </a:p>
        </p:txBody>
      </p:sp>
      <p:sp>
        <p:nvSpPr>
          <p:cNvPr id="31" name="Text 26"/>
          <p:cNvSpPr/>
          <p:nvPr/>
        </p:nvSpPr>
        <p:spPr>
          <a:xfrm>
            <a:off x="3666976" y="4386263"/>
            <a:ext cx="7144" cy="300038"/>
          </a:xfrm>
          <a:prstGeom prst="rect">
            <a:avLst/>
          </a:prstGeom>
          <a:solidFill>
            <a:srgbClr val="D6D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3816995" y="4406354"/>
            <a:ext cx="1695078" cy="30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Affluence column </a:t>
            </a:r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90.5%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empty - do not use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583510" y="4386263"/>
            <a:ext cx="7144" cy="300038"/>
          </a:xfrm>
          <a:prstGeom prst="rect">
            <a:avLst/>
          </a:prstGeom>
          <a:solidFill>
            <a:srgbClr val="D6DF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5733529" y="4406354"/>
            <a:ext cx="2760390" cy="30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rows are not restaurants (mosques, parks, furniture); </a:t>
            </a:r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addresses are in India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0588"/>
            <a:ext cx="200025" cy="35719"/>
          </a:xfrm>
          <a:prstGeom prst="roundRect">
            <a:avLst>
              <a:gd name="adj" fmla="val 79999"/>
            </a:avLst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7238" y="371475"/>
            <a:ext cx="79295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41" kern="0" dirty="0">
                <a:solidFill>
                  <a:srgbClr val="3B5B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1145"/>
            <a:ext cx="8636000" cy="35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3" kern="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Ratings </a:t>
            </a:r>
            <a:pPr algn="l" indent="0" marL="0">
              <a:lnSpc>
                <a:spcPts val="2565"/>
              </a:lnSpc>
              <a:buNone/>
            </a:pPr>
            <a:r>
              <a:rPr lang="en-US" sz="2138" b="1" spc="-43" kern="0" dirty="0">
                <a:solidFill>
                  <a:srgbClr val="3B5B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skew high</a:t>
            </a:r>
            <a:pPr algn="l" indent="0" marL="0">
              <a:lnSpc>
                <a:spcPts val="2565"/>
              </a:lnSpc>
              <a:buNone/>
            </a:pPr>
            <a:r>
              <a:rPr lang="en-US" sz="2138" b="1" spc="-43" kern="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and big venues get graded harder.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60772" y="1077590"/>
            <a:ext cx="4521994" cy="3719438"/>
          </a:xfrm>
          <a:prstGeom prst="roundRect">
            <a:avLst>
              <a:gd name="adj" fmla="val 358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5794" y="1215107"/>
            <a:ext cx="40290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AVERAGE RATING DISTRIBUTION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79156" y="120974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B5B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pic>
        <p:nvPicPr>
          <p:cNvPr id="8" name="Image 0" descr="/tmp/h2p-fit-1792587333082-9x7tj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94" y="1653555"/>
            <a:ext cx="4171950" cy="250310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794" y="4475559"/>
            <a:ext cx="41719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794" y="456128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055" dirty="0"/>
          </a:p>
        </p:txBody>
      </p:sp>
      <p:sp>
        <p:nvSpPr>
          <p:cNvPr id="11" name="Text 8"/>
          <p:cNvSpPr/>
          <p:nvPr/>
        </p:nvSpPr>
        <p:spPr>
          <a:xfrm>
            <a:off x="800100" y="4550569"/>
            <a:ext cx="400764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Source: restaurants.csv - Google Maps business listings, de-duplicated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57788" y="1074018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E8ED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93863" y="111009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B5B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547" dirty="0"/>
          </a:p>
        </p:txBody>
      </p:sp>
      <p:sp>
        <p:nvSpPr>
          <p:cNvPr id="14" name="Text 11"/>
          <p:cNvSpPr/>
          <p:nvPr/>
        </p:nvSpPr>
        <p:spPr>
          <a:xfrm>
            <a:off x="5572125" y="1074018"/>
            <a:ext cx="357187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AVERAGE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572125" y="1234753"/>
            <a:ext cx="3114675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4.08</a:t>
            </a:r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average rating; two-thirds (</a:t>
            </a:r>
            <a:pPr algn="l" indent="0" marL="0">
              <a:lnSpc>
                <a:spcPts val="1657"/>
              </a:lnSpc>
              <a:buNone/>
            </a:pPr>
            <a:r>
              <a:rPr lang="en-US" sz="1069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65.5%</a:t>
            </a:r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of rated places score </a:t>
            </a:r>
            <a:pPr algn="l" indent="0" marL="0">
              <a:lnSpc>
                <a:spcPts val="1657"/>
              </a:lnSpc>
              <a:buNone/>
            </a:pPr>
            <a:r>
              <a:rPr lang="en-US" sz="1069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4.0+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5157788" y="1919436"/>
            <a:ext cx="3529013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157788" y="2190676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E8ED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193863" y="222675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B5B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547" dirty="0"/>
          </a:p>
        </p:txBody>
      </p:sp>
      <p:sp>
        <p:nvSpPr>
          <p:cNvPr id="19" name="Text 16"/>
          <p:cNvSpPr/>
          <p:nvPr/>
        </p:nvSpPr>
        <p:spPr>
          <a:xfrm>
            <a:off x="5572125" y="2190676"/>
            <a:ext cx="357187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MODE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72125" y="2351410"/>
            <a:ext cx="3114675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perfect </a:t>
            </a:r>
            <a:pPr algn="l" indent="0" marL="0">
              <a:lnSpc>
                <a:spcPts val="1657"/>
              </a:lnSpc>
              <a:buNone/>
            </a:pPr>
            <a:r>
              <a:rPr lang="en-US" sz="1069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the most common single score - </a:t>
            </a:r>
            <a:pPr algn="l" indent="0" marL="0">
              <a:lnSpc>
                <a:spcPts val="1657"/>
              </a:lnSpc>
              <a:buNone/>
            </a:pPr>
            <a:r>
              <a:rPr lang="en-US" sz="1069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rated places</a:t>
            </a:r>
            <a:endParaRPr lang="en-US" sz="1069" dirty="0"/>
          </a:p>
        </p:txBody>
      </p:sp>
      <p:sp>
        <p:nvSpPr>
          <p:cNvPr id="21" name="Text 18"/>
          <p:cNvSpPr/>
          <p:nvPr/>
        </p:nvSpPr>
        <p:spPr>
          <a:xfrm>
            <a:off x="5157788" y="3036094"/>
            <a:ext cx="3529013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157788" y="3307333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E8ED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193863" y="334340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B5B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547" dirty="0"/>
          </a:p>
        </p:txBody>
      </p:sp>
      <p:sp>
        <p:nvSpPr>
          <p:cNvPr id="24" name="Text 21"/>
          <p:cNvSpPr/>
          <p:nvPr/>
        </p:nvSpPr>
        <p:spPr>
          <a:xfrm>
            <a:off x="5572125" y="3307333"/>
            <a:ext cx="357187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VOLUME VS GRADE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572125" y="3468067"/>
            <a:ext cx="3114675" cy="90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busiest venues average only </a:t>
            </a:r>
            <a:pPr algn="l" indent="0" marL="0">
              <a:lnSpc>
                <a:spcPts val="1657"/>
              </a:lnSpc>
              <a:buNone/>
            </a:pPr>
            <a:r>
              <a:rPr lang="en-US" sz="1069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3.4-4.4</a:t>
            </a:r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stars; correlation between reviews and rating is negative (Spearman rho = </a:t>
            </a:r>
            <a:pPr algn="l" indent="0" marL="0">
              <a:lnSpc>
                <a:spcPts val="1657"/>
              </a:lnSpc>
              <a:buNone/>
            </a:pPr>
            <a:r>
              <a:rPr lang="en-US" sz="1069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-0.25</a:t>
            </a:r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- popularity attracts harsher grading</a:t>
            </a:r>
            <a:endParaRPr lang="en-US" sz="1069" dirty="0"/>
          </a:p>
        </p:txBody>
      </p:sp>
      <p:sp>
        <p:nvSpPr>
          <p:cNvPr id="26" name="Shape 23"/>
          <p:cNvSpPr/>
          <p:nvPr/>
        </p:nvSpPr>
        <p:spPr>
          <a:xfrm>
            <a:off x="5157788" y="4576911"/>
            <a:ext cx="35290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57788" y="467960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055" dirty="0"/>
          </a:p>
        </p:txBody>
      </p:sp>
      <p:sp>
        <p:nvSpPr>
          <p:cNvPr id="28" name="Text 25"/>
          <p:cNvSpPr/>
          <p:nvPr/>
        </p:nvSpPr>
        <p:spPr>
          <a:xfrm>
            <a:off x="5322094" y="4666208"/>
            <a:ext cx="3364706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Reminder: a 0 rating means not yet rated - 2,529 places sit in that bucket.</a:t>
            </a:r>
            <a:endParaRPr lang="en-US" sz="70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54509"/>
            <a:ext cx="314325" cy="35719"/>
          </a:xfrm>
          <a:prstGeom prst="roundRect">
            <a:avLst>
              <a:gd name="adj" fmla="val 79999"/>
            </a:avLst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0100" y="300038"/>
            <a:ext cx="7943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182" kern="0" dirty="0">
                <a:solidFill>
                  <a:srgbClr val="3B5B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GEOGRAPHY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00050" y="516136"/>
            <a:ext cx="86360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Dhaka holds a quarter of the places - and 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the attention.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00050" y="893304"/>
            <a:ext cx="83439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Listings mark where supply sits; reviews mark where customer attention actually lands.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3622" y="1185416"/>
            <a:ext cx="4079081" cy="2888531"/>
          </a:xfrm>
          <a:prstGeom prst="roundRect">
            <a:avLst>
              <a:gd name="adj" fmla="val 46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5781" y="129703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B5B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266" dirty="0"/>
          </a:p>
        </p:txBody>
      </p:sp>
      <p:sp>
        <p:nvSpPr>
          <p:cNvPr id="8" name="Text 6"/>
          <p:cNvSpPr/>
          <p:nvPr/>
        </p:nvSpPr>
        <p:spPr>
          <a:xfrm>
            <a:off x="721519" y="1289000"/>
            <a:ext cx="36290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Listings by district</a:t>
            </a:r>
            <a:endParaRPr lang="en-US" sz="800" dirty="0"/>
          </a:p>
        </p:txBody>
      </p:sp>
      <p:pic>
        <p:nvPicPr>
          <p:cNvPr id="9" name="Image 0" descr="/tmp/h2p-fit-1792587334239-9lsjy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781" y="1490811"/>
            <a:ext cx="3814651" cy="24794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61297" y="1185416"/>
            <a:ext cx="4079081" cy="2888531"/>
          </a:xfrm>
          <a:prstGeom prst="roundRect">
            <a:avLst>
              <a:gd name="adj" fmla="val 46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793456" y="129703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B5B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12" name="Text 9"/>
          <p:cNvSpPr/>
          <p:nvPr/>
        </p:nvSpPr>
        <p:spPr>
          <a:xfrm>
            <a:off x="4979194" y="1289000"/>
            <a:ext cx="36290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Reviews by division</a:t>
            </a:r>
            <a:endParaRPr lang="en-US" sz="800" dirty="0"/>
          </a:p>
        </p:txBody>
      </p:sp>
      <p:pic>
        <p:nvPicPr>
          <p:cNvPr id="13" name="Image 1" descr="/tmp/h2p-fit-1792587334239-wqrwf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456" y="1586136"/>
            <a:ext cx="3814763" cy="2288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3622" y="4018359"/>
            <a:ext cx="8336756" cy="878681"/>
          </a:xfrm>
          <a:prstGeom prst="roundRect">
            <a:avLst>
              <a:gd name="adj" fmla="val 15176"/>
            </a:avLst>
          </a:prstGeom>
          <a:solidFill>
            <a:srgbClr val="E8EDFD"/>
          </a:solidFill>
          <a:ln w="7144">
            <a:solidFill>
              <a:srgbClr val="D6DFF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53641" y="4311253"/>
            <a:ext cx="292894" cy="292894"/>
          </a:xfrm>
          <a:prstGeom prst="roundRect">
            <a:avLst>
              <a:gd name="adj" fmla="val 3248778"/>
            </a:avLst>
          </a:prstGeom>
          <a:solidFill>
            <a:srgbClr val="FFFFFF"/>
          </a:solidFill>
          <a:ln w="7144">
            <a:solidFill>
              <a:srgbClr val="D6DFF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86145" y="434375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B5B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547" dirty="0"/>
          </a:p>
        </p:txBody>
      </p:sp>
      <p:sp>
        <p:nvSpPr>
          <p:cNvPr id="17" name="Text 13"/>
          <p:cNvSpPr/>
          <p:nvPr/>
        </p:nvSpPr>
        <p:spPr>
          <a:xfrm>
            <a:off x="950119" y="4243388"/>
            <a:ext cx="273517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3B5B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CONCENTRATION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950119" y="4382691"/>
            <a:ext cx="2085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1%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places (~108 venues) hold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40.4%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ALL reviews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182541" y="4121944"/>
            <a:ext cx="0" cy="671513"/>
          </a:xfrm>
          <a:prstGeom prst="line">
            <a:avLst/>
          </a:prstGeom>
          <a:noFill/>
          <a:ln w="7144">
            <a:solidFill>
              <a:srgbClr val="D6DFF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32559" y="4311253"/>
            <a:ext cx="292894" cy="292894"/>
          </a:xfrm>
          <a:prstGeom prst="roundRect">
            <a:avLst>
              <a:gd name="adj" fmla="val 3248778"/>
            </a:avLst>
          </a:prstGeom>
          <a:solidFill>
            <a:srgbClr val="FFFFFF"/>
          </a:solidFill>
          <a:ln w="7144">
            <a:solidFill>
              <a:srgbClr val="D6DFF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365063" y="434375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B5B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547" dirty="0"/>
          </a:p>
        </p:txBody>
      </p:sp>
      <p:sp>
        <p:nvSpPr>
          <p:cNvPr id="22" name="Text 18"/>
          <p:cNvSpPr/>
          <p:nvPr/>
        </p:nvSpPr>
        <p:spPr>
          <a:xfrm>
            <a:off x="3729038" y="4315718"/>
            <a:ext cx="208597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3B5B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LONG TAIL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729038" y="4455021"/>
            <a:ext cx="2113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5,138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places (</a:t>
            </a:r>
            <a:pPr algn="l" indent="0" marL="0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47.8%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have 2 reviews or fewer</a:t>
            </a:r>
            <a:endParaRPr lang="en-US" sz="759" dirty="0"/>
          </a:p>
        </p:txBody>
      </p:sp>
      <p:sp>
        <p:nvSpPr>
          <p:cNvPr id="24" name="Shape 20"/>
          <p:cNvSpPr/>
          <p:nvPr/>
        </p:nvSpPr>
        <p:spPr>
          <a:xfrm>
            <a:off x="5961459" y="4121944"/>
            <a:ext cx="0" cy="671513"/>
          </a:xfrm>
          <a:prstGeom prst="line">
            <a:avLst/>
          </a:prstGeom>
          <a:noFill/>
          <a:ln w="7144">
            <a:solidFill>
              <a:srgbClr val="D6DFF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11478" y="4311253"/>
            <a:ext cx="292894" cy="292894"/>
          </a:xfrm>
          <a:prstGeom prst="roundRect">
            <a:avLst>
              <a:gd name="adj" fmla="val 3248778"/>
            </a:avLst>
          </a:prstGeom>
          <a:solidFill>
            <a:srgbClr val="FFFFFF"/>
          </a:solidFill>
          <a:ln w="7144">
            <a:solidFill>
              <a:srgbClr val="D6DFF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143982" y="434375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B5B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547" dirty="0"/>
          </a:p>
        </p:txBody>
      </p:sp>
      <p:sp>
        <p:nvSpPr>
          <p:cNvPr id="27" name="Text 23"/>
          <p:cNvSpPr/>
          <p:nvPr/>
        </p:nvSpPr>
        <p:spPr>
          <a:xfrm>
            <a:off x="6507956" y="4243388"/>
            <a:ext cx="208597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3B5B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TOURIST EFFECT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507956" y="4382691"/>
            <a:ext cx="2085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Sylhet: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69K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reviews from just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703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listings - tourist traffic works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1160859"/>
            <a:ext cx="3997821" cy="2850356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5781" y="128676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B5B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4" name="Text 2"/>
          <p:cNvSpPr/>
          <p:nvPr/>
        </p:nvSpPr>
        <p:spPr>
          <a:xfrm>
            <a:off x="721519" y="1278731"/>
            <a:ext cx="35477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Place types from name keywords (EN + Bangla)</a:t>
            </a:r>
            <a:endParaRPr lang="en-US" sz="800" dirty="0"/>
          </a:p>
        </p:txBody>
      </p:sp>
      <p:pic>
        <p:nvPicPr>
          <p:cNvPr id="5" name="Image 0" descr="/tmp/h2p-fit-1792587335371-7bym5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47" y="1494830"/>
            <a:ext cx="3689970" cy="2398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05040" y="889843"/>
            <a:ext cx="314325" cy="35719"/>
          </a:xfrm>
          <a:prstGeom prst="roundRect">
            <a:avLst>
              <a:gd name="adj" fmla="val 79999"/>
            </a:avLst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005090" y="835372"/>
            <a:ext cx="3738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182" kern="0" dirty="0">
                <a:solidFill>
                  <a:srgbClr val="3B5B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CATEGORIES &amp; TAKEAWAYS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605040" y="1051471"/>
            <a:ext cx="4138910" cy="633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9"/>
              </a:lnSpc>
              <a:buNone/>
            </a:pPr>
            <a:r>
              <a:rPr lang="en-US" sz="2025" b="1" spc="-20" kern="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market is made of - and three moves.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4608612" y="1784152"/>
            <a:ext cx="4131766" cy="730002"/>
          </a:xfrm>
          <a:prstGeom prst="roundRect">
            <a:avLst>
              <a:gd name="adj" fmla="val 1826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740771" y="1902023"/>
            <a:ext cx="330577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63" dirty="0"/>
          </a:p>
        </p:txBody>
      </p:sp>
      <p:sp>
        <p:nvSpPr>
          <p:cNvPr id="11" name="Text 8"/>
          <p:cNvSpPr/>
          <p:nvPr/>
        </p:nvSpPr>
        <p:spPr>
          <a:xfrm>
            <a:off x="4751152" y="2144911"/>
            <a:ext cx="185738" cy="21431"/>
          </a:xfrm>
          <a:prstGeom prst="roundRect">
            <a:avLst>
              <a:gd name="adj" fmla="val 88890"/>
            </a:avLst>
          </a:prstGeom>
          <a:solidFill>
            <a:srgbClr val="E8ED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065254" y="1902023"/>
            <a:ext cx="0" cy="49425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83125" y="1902023"/>
            <a:ext cx="3534821" cy="177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b="1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Compete for the invisible half.</a:t>
            </a:r>
            <a:endParaRPr lang="en-US" sz="1069" dirty="0"/>
          </a:p>
        </p:txBody>
      </p:sp>
      <p:sp>
        <p:nvSpPr>
          <p:cNvPr id="14" name="Text 11"/>
          <p:cNvSpPr/>
          <p:nvPr/>
        </p:nvSpPr>
        <p:spPr>
          <a:xfrm>
            <a:off x="5183125" y="2106960"/>
            <a:ext cx="342509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47.8%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places have almost no reviews; a program that digitizes and engages the long tail fights for space nobody is contesting.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08612" y="2621310"/>
            <a:ext cx="4131766" cy="730002"/>
          </a:xfrm>
          <a:prstGeom prst="roundRect">
            <a:avLst>
              <a:gd name="adj" fmla="val 1826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40771" y="2739182"/>
            <a:ext cx="330577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63" dirty="0"/>
          </a:p>
        </p:txBody>
      </p:sp>
      <p:sp>
        <p:nvSpPr>
          <p:cNvPr id="17" name="Text 14"/>
          <p:cNvSpPr/>
          <p:nvPr/>
        </p:nvSpPr>
        <p:spPr>
          <a:xfrm>
            <a:off x="4751152" y="2982069"/>
            <a:ext cx="185738" cy="21431"/>
          </a:xfrm>
          <a:prstGeom prst="roundRect">
            <a:avLst>
              <a:gd name="adj" fmla="val 88890"/>
            </a:avLst>
          </a:prstGeom>
          <a:solidFill>
            <a:srgbClr val="E8ED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065254" y="2739182"/>
            <a:ext cx="0" cy="49425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83125" y="2739182"/>
            <a:ext cx="3534821" cy="177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b="1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Over-index on Dhaka, harvest the corridors.</a:t>
            </a:r>
            <a:endParaRPr lang="en-US" sz="1069" dirty="0"/>
          </a:p>
        </p:txBody>
      </p:sp>
      <p:sp>
        <p:nvSpPr>
          <p:cNvPr id="20" name="Text 17"/>
          <p:cNvSpPr/>
          <p:nvPr/>
        </p:nvSpPr>
        <p:spPr>
          <a:xfrm>
            <a:off x="5183125" y="2944118"/>
            <a:ext cx="342509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57.8%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reviews sit in Dhaka; Sylhet and tourist districts give the best review economics per listing.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608612" y="3458468"/>
            <a:ext cx="4131766" cy="874663"/>
          </a:xfrm>
          <a:prstGeom prst="roundRect">
            <a:avLst>
              <a:gd name="adj" fmla="val 1524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40771" y="3576340"/>
            <a:ext cx="330577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63" dirty="0"/>
          </a:p>
        </p:txBody>
      </p:sp>
      <p:sp>
        <p:nvSpPr>
          <p:cNvPr id="23" name="Text 20"/>
          <p:cNvSpPr/>
          <p:nvPr/>
        </p:nvSpPr>
        <p:spPr>
          <a:xfrm>
            <a:off x="4751152" y="3819227"/>
            <a:ext cx="185738" cy="21431"/>
          </a:xfrm>
          <a:prstGeom prst="roundRect">
            <a:avLst>
              <a:gd name="adj" fmla="val 88890"/>
            </a:avLst>
          </a:prstGeom>
          <a:solidFill>
            <a:srgbClr val="E8ED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065254" y="3576340"/>
            <a:ext cx="0" cy="6389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83125" y="3576340"/>
            <a:ext cx="3534821" cy="177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b="1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Biryani is the strongest named specialty.</a:t>
            </a:r>
            <a:endParaRPr lang="en-US" sz="1069" dirty="0"/>
          </a:p>
        </p:txBody>
      </p:sp>
      <p:sp>
        <p:nvSpPr>
          <p:cNvPr id="26" name="Text 23"/>
          <p:cNvSpPr/>
          <p:nvPr/>
        </p:nvSpPr>
        <p:spPr>
          <a:xfrm>
            <a:off x="5183125" y="3781276"/>
            <a:ext cx="3425093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dedicated biryani houses beat Chinese (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and kebab &amp; grill (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);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32.4%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businesses name themselves in Bangla script - local language is mainstream, not niche.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2026-10-21T12:55:35Z</dcterms:created>
  <dcterms:modified xsi:type="dcterms:W3CDTF">2026-10-21T12:55:35Z</dcterms:modified>
</cp:coreProperties>
</file>